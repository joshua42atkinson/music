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Part 6: The Architecture of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notation tells you what to play. But Bertrand teaches you two things at once: the mechanical instrument, and the musical theory. We don't just want you to memorize a song; we want you to understand the architecture of the fretboard.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visual maps—like the CAGED system and Vertiscales. These maps tell you where you are and why you are there. This is visual scaffolding. It prevents the cognitive overload of feeling lost on the fretboard, allowing you to navigate the neck with total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dirty="0">
                <a:solidFill>
                  <a:srgbClr val="A0A0C0"/>
                </a:solidFill>
                <a:latin typeface="Inter" pitchFamily="34" charset="0"/>
                <a:ea typeface="Inter" pitchFamily="34" charset="-122"/>
                <a:cs typeface="Inter" pitchFamily="34" charset="-120"/>
              </a:rPr>
              <a:t>BERTRAND LAURENCE GUITAR STUDIO | MASTERCLASS</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057400"/>
            <a:ext cx="8229600" cy="914400"/>
          </a:xfrm>
          <a:prstGeom prst="rect">
            <a:avLst/>
          </a:prstGeom>
          <a:noFill/>
          <a:ln/>
        </p:spPr>
        <p:txBody>
          <a:bodyPr wrap="square" rtlCol="0" anchor="ctr"/>
          <a:lstStyle/>
          <a:p>
            <a:pPr algn="ctr" indent="0" marL="0">
              <a:buNone/>
            </a:pPr>
            <a:r>
              <a:rPr lang="en-US" sz="5400" b="1" dirty="0">
                <a:solidFill>
                  <a:srgbClr val="FFFFFF"/>
                </a:solidFill>
                <a:latin typeface="Outfit" pitchFamily="34" charset="0"/>
                <a:ea typeface="Outfit" pitchFamily="34" charset="-122"/>
                <a:cs typeface="Outfit" pitchFamily="34" charset="-120"/>
              </a:rPr>
              <a:t>Part 6: The Architecture of Sound</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4000" b="1" dirty="0">
                <a:solidFill>
                  <a:srgbClr val="FFFFFF"/>
                </a:solidFill>
                <a:latin typeface="Outfit" pitchFamily="34" charset="0"/>
                <a:ea typeface="Outfit" pitchFamily="34" charset="-122"/>
                <a:cs typeface="Outfit" pitchFamily="34" charset="-120"/>
              </a:rPr>
              <a:t>Learn Two Things At Once</a:t>
            </a:r>
            <a:endParaRPr lang="en-US" sz="4000" dirty="0"/>
          </a:p>
        </p:txBody>
      </p:sp>
      <p:sp>
        <p:nvSpPr>
          <p:cNvPr id="3" name="Text 1"/>
          <p:cNvSpPr/>
          <p:nvPr/>
        </p:nvSpPr>
        <p:spPr>
          <a:xfrm>
            <a:off x="457200" y="1645920"/>
            <a:ext cx="8229600" cy="457200"/>
          </a:xfrm>
          <a:prstGeom prst="rect">
            <a:avLst/>
          </a:prstGeom>
          <a:noFill/>
          <a:ln/>
        </p:spPr>
        <p:txBody>
          <a:bodyPr wrap="square" rtlCol="0" anchor="ctr"/>
          <a:lstStyle/>
          <a:p>
            <a:pPr indent="0" marL="0">
              <a:buNone/>
            </a:pPr>
            <a:r>
              <a:rPr lang="en-US" sz="2400" dirty="0">
                <a:solidFill>
                  <a:srgbClr val="00F0FF"/>
                </a:solidFill>
                <a:latin typeface="Inter" pitchFamily="34" charset="0"/>
                <a:ea typeface="Inter" pitchFamily="34" charset="-122"/>
                <a:cs typeface="Inter" pitchFamily="34" charset="-120"/>
              </a:rPr>
              <a:t>Physical Mechanics + Musical Theory</a:t>
            </a:r>
            <a:endParaRPr lang="en-US" sz="2400" dirty="0"/>
          </a:p>
        </p:txBody>
      </p:sp>
      <p:sp>
        <p:nvSpPr>
          <p:cNvPr id="4" name="Text 2"/>
          <p:cNvSpPr/>
          <p:nvPr/>
        </p:nvSpPr>
        <p:spPr>
          <a:xfrm>
            <a:off x="457200" y="2743200"/>
            <a:ext cx="8229600" cy="1828800"/>
          </a:xfrm>
          <a:prstGeom prst="rect">
            <a:avLst/>
          </a:prstGeom>
          <a:solidFill>
            <a:srgbClr val="20202A"/>
          </a:solidFill>
          <a:ln/>
        </p:spPr>
        <p:txBody>
          <a:bodyPr wrap="square" rtlCol="0" anchor="ctr"/>
          <a:lstStyle/>
          <a:p>
            <a:pPr algn="ctr" indent="0" marL="0">
              <a:buNone/>
            </a:pPr>
            <a:r>
              <a:rPr lang="en-US" sz="1800" i="1" dirty="0">
                <a:solidFill>
                  <a:srgbClr val="FF8A00"/>
                </a:solidFill>
                <a:latin typeface="Inter" pitchFamily="34" charset="0"/>
                <a:ea typeface="Inter" pitchFamily="34" charset="-122"/>
                <a:cs typeface="Inter" pitchFamily="34" charset="-120"/>
              </a:rPr>
              <a:t>[Visual: A split screen showing a physical guitar neck on one side and a music theory chart on the other.]</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4000" b="1" dirty="0">
                <a:solidFill>
                  <a:srgbClr val="FFFFFF"/>
                </a:solidFill>
                <a:latin typeface="Outfit" pitchFamily="34" charset="0"/>
                <a:ea typeface="Outfit" pitchFamily="34" charset="-122"/>
                <a:cs typeface="Outfit" pitchFamily="34" charset="-120"/>
              </a:rPr>
              <a:t>Visual Scaffolding</a:t>
            </a:r>
            <a:endParaRPr lang="en-US" sz="4000" dirty="0"/>
          </a:p>
        </p:txBody>
      </p:sp>
      <p:sp>
        <p:nvSpPr>
          <p:cNvPr id="3" name="Text 1"/>
          <p:cNvSpPr/>
          <p:nvPr/>
        </p:nvSpPr>
        <p:spPr>
          <a:xfrm>
            <a:off x="457200" y="1645920"/>
            <a:ext cx="8229600" cy="457200"/>
          </a:xfrm>
          <a:prstGeom prst="rect">
            <a:avLst/>
          </a:prstGeom>
          <a:noFill/>
          <a:ln/>
        </p:spPr>
        <p:txBody>
          <a:bodyPr wrap="square" rtlCol="0" anchor="ctr"/>
          <a:lstStyle/>
          <a:p>
            <a:pPr indent="0" marL="0">
              <a:buNone/>
            </a:pPr>
            <a:r>
              <a:rPr lang="en-US" sz="2400" dirty="0">
                <a:solidFill>
                  <a:srgbClr val="00F0FF"/>
                </a:solidFill>
                <a:latin typeface="Inter" pitchFamily="34" charset="0"/>
                <a:ea typeface="Inter" pitchFamily="34" charset="-122"/>
                <a:cs typeface="Inter" pitchFamily="34" charset="-120"/>
              </a:rPr>
              <a:t>CAGED and Vertiscales</a:t>
            </a:r>
            <a:endParaRPr lang="en-US" sz="2400" dirty="0"/>
          </a:p>
        </p:txBody>
      </p:sp>
      <p:sp>
        <p:nvSpPr>
          <p:cNvPr id="4" name="Text 2"/>
          <p:cNvSpPr/>
          <p:nvPr/>
        </p:nvSpPr>
        <p:spPr>
          <a:xfrm>
            <a:off x="457200" y="2743200"/>
            <a:ext cx="8229600" cy="1828800"/>
          </a:xfrm>
          <a:prstGeom prst="rect">
            <a:avLst/>
          </a:prstGeom>
          <a:solidFill>
            <a:srgbClr val="20202A"/>
          </a:solidFill>
          <a:ln/>
        </p:spPr>
        <p:txBody>
          <a:bodyPr wrap="square" rtlCol="0" anchor="ctr"/>
          <a:lstStyle/>
          <a:p>
            <a:pPr algn="ctr" indent="0" marL="0">
              <a:buNone/>
            </a:pPr>
            <a:r>
              <a:rPr lang="en-US" sz="1800" i="1" dirty="0">
                <a:solidFill>
                  <a:srgbClr val="FF8A00"/>
                </a:solidFill>
                <a:latin typeface="Inter" pitchFamily="34" charset="0"/>
                <a:ea typeface="Inter" pitchFamily="34" charset="-122"/>
                <a:cs typeface="Inter" pitchFamily="34" charset="-120"/>
              </a:rPr>
              <a:t>[Visual: Bertrand's actual CAGED system or Vertiscales PDF map, dynamically glowing.]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2026-05-17T00:56:07Z</dcterms:created>
  <dcterms:modified xsi:type="dcterms:W3CDTF">2026-05-17T00:56:07Z</dcterms:modified>
</cp:coreProperties>
</file>