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Fragmentation.
The student walks through the classroom door and subconsciously leaves their physical body, their complex emotions, and their personal trauma in the hallway. They sit down at the desk, operating as a disembodied brain required only to process cold logic.
This is the violent, normalized disconnect of traditional pedagogy: severing the intellect entirely from the biological and emotional realities of the human being. The conscious mind is forcefully engaged in the lesson, while the unconscious mind—desperately managing survival, fear, and physiological needs—is entirely ignored, brewing a massive, silent storm just below the surface.
Meditation One. By reducing the student to just a brain, are we carving them into an unnatural shape and forcing them to lose their original, whole essence?
Meditation Two. How does demanding cognitive output while ignoring emotional reality create a violent internal disconnect for the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Dissonance.
The deeply repressed unconscious mind inevitably begins to rebel violently against the sterile conscious framework. The student exhibits severe behavioral dissonance: suddenly acting out aggressively, displaying profound, unexplainable exhaustion, or collapsing into sudden tears.
To the untrained, institutional eye, this is mere defiance. To the architect of the Conscious Framework, this is a literal cry for help—a sub-optimal action generated by the neglected Self to interrupt a system that is fundamentally detrimental to its vital functions. The dissonance is an emergency flare signaling that the ecosystem has become toxic.
Meditation One. Is the student's exhaustion a failure of will, or a natural cry for help from a mind deafened and numbed by our curriculum?
Meditation Two. If cognitive dissonance is a plea for space, how can we quiet the external noise to hear what the neglected Self is actually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Suppression.
The institutional reflex kicks in with brutal, unthinking efficiency. The educator, tightly bound by policy, writes a referral, assigns detention, or publicly shames the student. They quickly label the profound psychological pain as "laziness" or "insubordination" and aggressively punish the symptom.
The cognitive cost imposed on the student is immense; they are forced to utilize all their remaining energy to push the trauma back down into the unconscious. The room regains its surface order, but the atmosphere is thick with a toxic, silent resentment.
Meditation One. When we label a student's struggle as "laziness," are we simply punishing the symptom of our own intrusion into their natural rhythm?
Meditation Two. How does suppressing the student's pain through punishment further alienate the very "Self" we are trying to educate?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Grace.
Instead of angrily reaching for the disciplinary referral, the educator completely pauses. They recognize the severe dissonance for what it is. The educator performs a radical act: they look deeply at the struggling student and offer pure, unmerited grace.
They say softly, "You seem incredibly overwhelmed today. You don't have to produce anything right now. Just breathe."
The educator holds space for the whole human, acknowledging the validity of their emotional exhaustion without requiring a detailed explanation. The cycle of punitive instruction is broken, and a sanctuary is suddenly erected in the middle of the classroom.
Meditation One. What happens to the learning environment when we extend unconditional grace, rather than making it contingent on academic performance?
Meditation Two. Why is simply holding space for the "whole human" a more radical and transformative act than delivering a flawless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Environment.
The educator makes a massive, conscious shift. They stop looking at the rigid lesson plan and start looking at the actual room. They deeply realize their primary job is not manipulating the academic result, but grooming the psychological and physical ecosystem.
They adjust the harsh lighting, change the physical layout to promote connection, and establish a tone of absolute psychological safety. The classroom permanently ceases to be a sterile container for data transmission and boldly crosses the threshold into becoming a living, breathing habitat designed to sustain human growth.
Meditation One. How can we shape the classroom ecosystem to flow like water, nourishing the student naturally without forcing a specific direction?
Meditation Two. If we focus entirely on enriching the "soil" rather than tugging at the plant, how does the academic result begin to take care of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Space.
The student naturally tests this new environment. They totally disengage from the lesson, putting their head down heavily on the desk. In the past, this would trigger an immediate confrontation. Now, the educator allows it. They give the "Self" the literal and metaphorical room to exist without any judgment.
This space is the ultimate test for the teacher's ego—to watch a student do 'nothing' and fiercely trust that critical, unconscious healing and processing are occurring in the dark. The space is the ally; the compulsion to constantly measure visible output is the enemy.
Meditation One. Can we provide the "Self" the unjudging, empty space of a bellows, allowing it to breathe, move, and expand naturally?
Meditation Two. What deeply ingrained judgments must I release to give the student the unconditional room to simply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Experience.
When the student is finally ready to lift their head, the educator does not hand them a makeup worksheet. Instead, they invite the student into an applied, immersive experience. They build a physical model, engage in a passionate debate, or walk outside to observe the phenomenon in nature.
The pedagogy actively engages the physical body, the mental processing, and the emotional reality simultaneously. The student is not merely studying a subject; they are living it. The flat, theoretical framework is entirely replaced by the visceral, undeniable texture of reality.
Meditation One. How do we design an educational experience that physically, mentally, and emotionally returns the student to a state of integrated oneness?
Meditation Two. If true learning is fully embodied, what vital insights are we missing when we only engage the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Integration.
Immersed deeply in the experience, the student encounters a moment that severely challenges both their intellect and their emotional resilience. They struggle, get intensely frustrated, and want to quit. But the environment is undeniably safe, and the experience is highly compelling.
They take a deep breath and push through, utilizing their emotional regulation to sustain their cognitive focus. This is the supreme ordeal: the profound process of pulling the fragmented pieces of the self—the brain, the body, the heart—back together into a unified mechanism capable of overcoming severe adversity.
Meditation One. Instead of fighting the student's fragmentation, how can we embrace their "partial" state to gently guide them back to wholeness?
Meditation Two. What deep, unseen healing occurs when we allow the fragmented pieces of a student's identity to be safely gathered back together in our presence?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Resonance.
The complex task is successfully completed. The student stands back, breathing heavily, feeling a deep, vibrating sense of genuine accomplishment. They look around the classroom and realize, for the first time, they truly belong here.
Their identity aligns perfectly with the environment. The severe dissonance is completely gone. The conscious framework and the unconscious drives are no longer at war; they are singing the exact same chord. The reward is a state of deep, harmonic resonance where the student feels entirely seen, fiercely capable, and intensely alive.
Meditation One. When a student's internal identity aligns perfectly with the environment we've built, what effortless resonance takes place?
Meditation Two. How does accepting a student exactly as they are become the catalyst for them to truly flourish?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Stewardship.
The educator observes this beautiful resonance and internalizes a permanent shift in their own professional identity. They are no longer a commander or a data-transfer mechanism. They are a true steward.
They walk the Road Back, formally committing to tending the ecosystem instead of manipulating the behavior. Their daily work becomes a sacred act of vigilant observation, constantly adjusting the light, the nutrients, and the safe boundaries to ensure the habitat remains conducive to the resonance they have witnessed.
Meditation One. How often do we "spoil" the student's natural growth by nervously poking at their behavior, instead of calmly tending to the ecosystem around them?
Meditation Two. What does true stewardship look like when we replace the urge to manipulate outcomes with the patience to simply observe?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Self-Mastery.
A sudden conflict arises between two other students. The educator deliberately steps back. The student who previously exhibited severe dissonance intervenes. They take a deep breath, regulate their own emotional response flawlessly, and mediate the conflict with profound empathy and logic.
Internal regulation has permanently replaced external discipline. The student is actively authoring their own growth, utilizing the fully integrated Conscious Framework to navigate complex social and emotional terrain without relying on the authority of the institution. The student has achieved complete self-mastery.
Meditation One. How does shifting from external discipline to internal regulation allow the student to "act without doing" and gracefully author their own growth?
Meditation Two. By stepping back and trusting the student to master themselves, how do we help them accomplish the great task of their own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Evolution.
The student graduates and walks out the door. They are not merely leaving with a piece of paper certifying data retention; they are leaving as a fully realized, integrated human being.
The educator remains, preparing the space to welcome the next cohort. The ultimate goal of true education has been definitively achieved. The elixir is not a static state of knowledge, but the perpetual capacity for evolution. The Conscious Framework has successfully shepherded the human soul through the mysteries of existence.
Meditation One. If the ultimate goal of true education is a fully realized individual, how must we align our teaching with what is fundamentally natural to the "Self"?
Meditation Two. What evolution occurs within the teacher when we finally trust the student's innate, natural drive to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AE6FD"/>
        </a:solidFill>
      </p:bgPr>
    </p:bg>
    <p:spTree>
      <p:nvGrpSpPr>
        <p:cNvPr id="1" name=""/>
        <p:cNvGrpSpPr/>
        <p:nvPr/>
      </p:nvGrpSpPr>
      <p:grpSpPr>
        <a:xfrm>
          <a:off x="0" y="0"/>
          <a:ext cx="0" cy="0"/>
          <a:chOff x="0" y="0"/>
          <a:chExt cx="0" cy="0"/>
        </a:xfrm>
      </p:grpSpPr>
      <p:sp>
        <p:nvSpPr>
          <p:cNvPr id="2" name="Text 0"/>
          <p:cNvSpPr/>
          <p:nvPr/>
        </p:nvSpPr>
        <p:spPr>
          <a:xfrm>
            <a:off x="914400" y="2194560"/>
            <a:ext cx="7315200" cy="914400"/>
          </a:xfrm>
          <a:prstGeom prst="rect">
            <a:avLst/>
          </a:prstGeom>
          <a:noFill/>
          <a:ln/>
        </p:spPr>
        <p:txBody>
          <a:bodyPr wrap="square" rtlCol="0" anchor="ctr"/>
          <a:lstStyle/>
          <a:p>
            <a:pPr algn="ctr" indent="0" marL="0">
              <a:buNone/>
            </a:pPr>
            <a:r>
              <a:rPr lang="en-US" sz="4800" b="1" dirty="0">
                <a:solidFill>
                  <a:srgbClr val="172554"/>
                </a:solidFill>
                <a:latin typeface="Arial" pitchFamily="34" charset="0"/>
                <a:ea typeface="Arial" pitchFamily="34" charset="-122"/>
                <a:cs typeface="Arial" pitchFamily="34" charset="-120"/>
              </a:rPr>
              <a:t>MODULE: THE SELF</a:t>
            </a:r>
            <a:endParaRPr lang="en-US" sz="4800" dirty="0"/>
          </a:p>
        </p:txBody>
      </p:sp>
      <p:sp>
        <p:nvSpPr>
          <p:cNvPr id="3" name="Text 1"/>
          <p:cNvSpPr/>
          <p:nvPr/>
        </p:nvSpPr>
        <p:spPr>
          <a:xfrm>
            <a:off x="914400" y="3200400"/>
            <a:ext cx="7315200" cy="914400"/>
          </a:xfrm>
          <a:prstGeom prst="rect">
            <a:avLst/>
          </a:prstGeom>
          <a:noFill/>
          <a:ln/>
        </p:spPr>
        <p:txBody>
          <a:bodyPr wrap="square" rtlCol="0" anchor="ctr"/>
          <a:lstStyle/>
          <a:p>
            <a:pPr algn="ctr" indent="0" marL="0">
              <a:buNone/>
            </a:pPr>
            <a:r>
              <a:rPr lang="en-US" sz="2400" dirty="0">
                <a:solidFill>
                  <a:srgbClr val="C2410C"/>
                </a:solidFill>
                <a:latin typeface="Arial" pitchFamily="34" charset="0"/>
                <a:ea typeface="Arial" pitchFamily="34" charset="-122"/>
                <a:cs typeface="Arial" pitchFamily="34" charset="-120"/>
              </a:rPr>
              <a:t>The Conscious Framework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BAE6FD"/>
        </a:solidFill>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7DD3FC"/>
          </a:solidFill>
          <a:ln/>
        </p:spPr>
      </p:sp>
      <p:sp>
        <p:nvSpPr>
          <p:cNvPr id="3" name="Text 1"/>
          <p:cNvSpPr/>
          <p:nvPr/>
        </p:nvSpPr>
        <p:spPr>
          <a:xfrm>
            <a:off x="0" y="2286000"/>
            <a:ext cx="4572000" cy="457200"/>
          </a:xfrm>
          <a:prstGeom prst="rect">
            <a:avLst/>
          </a:prstGeom>
          <a:noFill/>
          <a:ln/>
        </p:spPr>
        <p:txBody>
          <a:bodyPr wrap="square" rtlCol="0" anchor="ctr"/>
          <a:lstStyle/>
          <a:p>
            <a:pPr algn="ctr" indent="0" marL="0">
              <a:buNone/>
            </a:pPr>
            <a:r>
              <a:rPr lang="en-US" dirty="0">
                <a:solidFill>
                  <a:srgbClr val="172554"/>
                </a:solidFill>
              </a:rPr>
              <a:t>Image Placeholder</a:t>
            </a:r>
            <a:endParaRPr lang="en-US" dirty="0"/>
          </a:p>
        </p:txBody>
      </p:sp>
      <p:sp>
        <p:nvSpPr>
          <p:cNvPr id="4" name="Text 2"/>
          <p:cNvSpPr/>
          <p:nvPr/>
        </p:nvSpPr>
        <p:spPr>
          <a:xfrm>
            <a:off x="4846320" y="1097280"/>
            <a:ext cx="4023360" cy="36576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STAGE 01</a:t>
            </a:r>
            <a:endParaRPr lang="en-US" sz="1400" dirty="0"/>
          </a:p>
        </p:txBody>
      </p:sp>
      <p:sp>
        <p:nvSpPr>
          <p:cNvPr id="5" name="Text 3"/>
          <p:cNvSpPr/>
          <p:nvPr/>
        </p:nvSpPr>
        <p:spPr>
          <a:xfrm>
            <a:off x="4846320" y="1463040"/>
            <a:ext cx="4023360" cy="731520"/>
          </a:xfrm>
          <a:prstGeom prst="rect">
            <a:avLst/>
          </a:prstGeom>
          <a:noFill/>
          <a:ln/>
        </p:spPr>
        <p:txBody>
          <a:bodyPr wrap="square" rtlCol="0" anchor="ctr"/>
          <a:lstStyle/>
          <a:p>
            <a:pPr indent="0" marL="0">
              <a:buNone/>
            </a:pPr>
            <a:r>
              <a:rPr lang="en-US" sz="2800" b="1" dirty="0">
                <a:solidFill>
                  <a:srgbClr val="C2410C"/>
                </a:solidFill>
                <a:latin typeface="Arial" pitchFamily="34" charset="0"/>
                <a:ea typeface="Arial" pitchFamily="34" charset="-122"/>
                <a:cs typeface="Arial" pitchFamily="34" charset="-120"/>
              </a:rPr>
              <a:t>FRAGMENTATION</a:t>
            </a:r>
            <a:endParaRPr lang="en-US" sz="2800" dirty="0"/>
          </a:p>
        </p:txBody>
      </p:sp>
      <p:sp>
        <p:nvSpPr>
          <p:cNvPr id="6" name="Text 4"/>
          <p:cNvSpPr/>
          <p:nvPr/>
        </p:nvSpPr>
        <p:spPr>
          <a:xfrm>
            <a:off x="4846320" y="2194560"/>
            <a:ext cx="4023360" cy="365760"/>
          </a:xfrm>
          <a:prstGeom prst="rect">
            <a:avLst/>
          </a:prstGeom>
          <a:noFill/>
          <a:ln/>
        </p:spPr>
        <p:txBody>
          <a:bodyPr wrap="square" rtlCol="0" anchor="ctr"/>
          <a:lstStyle/>
          <a:p>
            <a:pPr indent="0" marL="0">
              <a:buNone/>
            </a:pPr>
            <a:r>
              <a:rPr lang="en-US" sz="1800" i="1" dirty="0">
                <a:solidFill>
                  <a:srgbClr val="1E40AF"/>
                </a:solidFill>
                <a:latin typeface="Georgia" pitchFamily="34" charset="0"/>
                <a:ea typeface="Georgia" pitchFamily="34" charset="-122"/>
                <a:cs typeface="Georgia" pitchFamily="34" charset="-120"/>
              </a:rPr>
              <a:t>The Ordinary World</a:t>
            </a:r>
            <a:endParaRPr lang="en-US" sz="1800" dirty="0"/>
          </a:p>
        </p:txBody>
      </p:sp>
      <p:sp>
        <p:nvSpPr>
          <p:cNvPr id="7" name="Text 5"/>
          <p:cNvSpPr/>
          <p:nvPr/>
        </p:nvSpPr>
        <p:spPr>
          <a:xfrm>
            <a:off x="4846320" y="2743200"/>
            <a:ext cx="4023360" cy="1828800"/>
          </a:xfrm>
          <a:prstGeom prst="rect">
            <a:avLst/>
          </a:prstGeom>
          <a:noFill/>
          <a:ln/>
        </p:spPr>
        <p:txBody>
          <a:bodyPr wrap="square" rtlCol="0" anchor="t"/>
          <a:lstStyle/>
          <a:p>
            <a:pPr indent="0" marL="0">
              <a:buNone/>
            </a:pPr>
            <a:r>
              <a:rPr lang="en-US" sz="1600" dirty="0">
                <a:solidFill>
                  <a:srgbClr val="172554"/>
                </a:solidFill>
                <a:latin typeface="Georgia" pitchFamily="34" charset="0"/>
                <a:ea typeface="Georgia" pitchFamily="34" charset="-122"/>
                <a:cs typeface="Georgia" pitchFamily="34" charset="-120"/>
              </a:rPr>
              <a:t>"Know the personal, yet keep to the impersonal: accept the world as it is. If you accept the world, the Tao will be luminous inside you, and you will return to your primal self."</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BAE6FD"/>
        </a:solidFill>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7DD3FC"/>
          </a:solidFill>
          <a:ln/>
        </p:spPr>
      </p:sp>
      <p:sp>
        <p:nvSpPr>
          <p:cNvPr id="3" name="Text 1"/>
          <p:cNvSpPr/>
          <p:nvPr/>
        </p:nvSpPr>
        <p:spPr>
          <a:xfrm>
            <a:off x="0" y="2286000"/>
            <a:ext cx="4572000" cy="457200"/>
          </a:xfrm>
          <a:prstGeom prst="rect">
            <a:avLst/>
          </a:prstGeom>
          <a:noFill/>
          <a:ln/>
        </p:spPr>
        <p:txBody>
          <a:bodyPr wrap="square" rtlCol="0" anchor="ctr"/>
          <a:lstStyle/>
          <a:p>
            <a:pPr algn="ctr" indent="0" marL="0">
              <a:buNone/>
            </a:pPr>
            <a:r>
              <a:rPr lang="en-US" dirty="0">
                <a:solidFill>
                  <a:srgbClr val="172554"/>
                </a:solidFill>
              </a:rPr>
              <a:t>Image Placeholder</a:t>
            </a:r>
            <a:endParaRPr lang="en-US" dirty="0"/>
          </a:p>
        </p:txBody>
      </p:sp>
      <p:sp>
        <p:nvSpPr>
          <p:cNvPr id="4" name="Text 2"/>
          <p:cNvSpPr/>
          <p:nvPr/>
        </p:nvSpPr>
        <p:spPr>
          <a:xfrm>
            <a:off x="4846320" y="1097280"/>
            <a:ext cx="4023360" cy="36576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STAGE 02</a:t>
            </a:r>
            <a:endParaRPr lang="en-US" sz="1400" dirty="0"/>
          </a:p>
        </p:txBody>
      </p:sp>
      <p:sp>
        <p:nvSpPr>
          <p:cNvPr id="5" name="Text 3"/>
          <p:cNvSpPr/>
          <p:nvPr/>
        </p:nvSpPr>
        <p:spPr>
          <a:xfrm>
            <a:off x="4846320" y="1463040"/>
            <a:ext cx="4023360" cy="731520"/>
          </a:xfrm>
          <a:prstGeom prst="rect">
            <a:avLst/>
          </a:prstGeom>
          <a:noFill/>
          <a:ln/>
        </p:spPr>
        <p:txBody>
          <a:bodyPr wrap="square" rtlCol="0" anchor="ctr"/>
          <a:lstStyle/>
          <a:p>
            <a:pPr indent="0" marL="0">
              <a:buNone/>
            </a:pPr>
            <a:r>
              <a:rPr lang="en-US" sz="2800" b="1" dirty="0">
                <a:solidFill>
                  <a:srgbClr val="C2410C"/>
                </a:solidFill>
                <a:latin typeface="Arial" pitchFamily="34" charset="0"/>
                <a:ea typeface="Arial" pitchFamily="34" charset="-122"/>
                <a:cs typeface="Arial" pitchFamily="34" charset="-120"/>
              </a:rPr>
              <a:t>DISSONANCE</a:t>
            </a:r>
            <a:endParaRPr lang="en-US" sz="2800" dirty="0"/>
          </a:p>
        </p:txBody>
      </p:sp>
      <p:sp>
        <p:nvSpPr>
          <p:cNvPr id="6" name="Text 4"/>
          <p:cNvSpPr/>
          <p:nvPr/>
        </p:nvSpPr>
        <p:spPr>
          <a:xfrm>
            <a:off x="4846320" y="2194560"/>
            <a:ext cx="4023360" cy="365760"/>
          </a:xfrm>
          <a:prstGeom prst="rect">
            <a:avLst/>
          </a:prstGeom>
          <a:noFill/>
          <a:ln/>
        </p:spPr>
        <p:txBody>
          <a:bodyPr wrap="square" rtlCol="0" anchor="ctr"/>
          <a:lstStyle/>
          <a:p>
            <a:pPr indent="0" marL="0">
              <a:buNone/>
            </a:pPr>
            <a:r>
              <a:rPr lang="en-US" sz="1800" i="1" dirty="0">
                <a:solidFill>
                  <a:srgbClr val="1E40AF"/>
                </a:solidFill>
                <a:latin typeface="Georgia" pitchFamily="34" charset="0"/>
                <a:ea typeface="Georgia" pitchFamily="34" charset="-122"/>
                <a:cs typeface="Georgia" pitchFamily="34" charset="-120"/>
              </a:rPr>
              <a:t>Call to Adventure</a:t>
            </a:r>
            <a:endParaRPr lang="en-US" sz="1800" dirty="0"/>
          </a:p>
        </p:txBody>
      </p:sp>
      <p:sp>
        <p:nvSpPr>
          <p:cNvPr id="7" name="Text 5"/>
          <p:cNvSpPr/>
          <p:nvPr/>
        </p:nvSpPr>
        <p:spPr>
          <a:xfrm>
            <a:off x="4846320" y="2743200"/>
            <a:ext cx="4023360" cy="1828800"/>
          </a:xfrm>
          <a:prstGeom prst="rect">
            <a:avLst/>
          </a:prstGeom>
          <a:noFill/>
          <a:ln/>
        </p:spPr>
        <p:txBody>
          <a:bodyPr wrap="square" rtlCol="0" anchor="t"/>
          <a:lstStyle/>
          <a:p>
            <a:pPr indent="0" marL="0">
              <a:buNone/>
            </a:pPr>
            <a:r>
              <a:rPr lang="en-US" sz="1600" dirty="0">
                <a:solidFill>
                  <a:srgbClr val="172554"/>
                </a:solidFill>
                <a:latin typeface="Georgia" pitchFamily="34" charset="0"/>
                <a:ea typeface="Georgia" pitchFamily="34" charset="-122"/>
                <a:cs typeface="Georgia" pitchFamily="34" charset="-120"/>
              </a:rPr>
              <a:t>"Colors blind the eye. Sounds deafen the ear. Flavors numb the taste. Thoughts weaken the mind. Desires wither the heart."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BAE6FD"/>
        </a:solidFill>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7DD3FC"/>
          </a:solidFill>
          <a:ln/>
        </p:spPr>
      </p:sp>
      <p:sp>
        <p:nvSpPr>
          <p:cNvPr id="3" name="Text 1"/>
          <p:cNvSpPr/>
          <p:nvPr/>
        </p:nvSpPr>
        <p:spPr>
          <a:xfrm>
            <a:off x="0" y="2286000"/>
            <a:ext cx="4572000" cy="457200"/>
          </a:xfrm>
          <a:prstGeom prst="rect">
            <a:avLst/>
          </a:prstGeom>
          <a:noFill/>
          <a:ln/>
        </p:spPr>
        <p:txBody>
          <a:bodyPr wrap="square" rtlCol="0" anchor="ctr"/>
          <a:lstStyle/>
          <a:p>
            <a:pPr algn="ctr" indent="0" marL="0">
              <a:buNone/>
            </a:pPr>
            <a:r>
              <a:rPr lang="en-US" dirty="0">
                <a:solidFill>
                  <a:srgbClr val="172554"/>
                </a:solidFill>
              </a:rPr>
              <a:t>Image Placeholder</a:t>
            </a:r>
            <a:endParaRPr lang="en-US" dirty="0"/>
          </a:p>
        </p:txBody>
      </p:sp>
      <p:sp>
        <p:nvSpPr>
          <p:cNvPr id="4" name="Text 2"/>
          <p:cNvSpPr/>
          <p:nvPr/>
        </p:nvSpPr>
        <p:spPr>
          <a:xfrm>
            <a:off x="4846320" y="1097280"/>
            <a:ext cx="4023360" cy="36576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STAGE 03</a:t>
            </a:r>
            <a:endParaRPr lang="en-US" sz="1400" dirty="0"/>
          </a:p>
        </p:txBody>
      </p:sp>
      <p:sp>
        <p:nvSpPr>
          <p:cNvPr id="5" name="Text 3"/>
          <p:cNvSpPr/>
          <p:nvPr/>
        </p:nvSpPr>
        <p:spPr>
          <a:xfrm>
            <a:off x="4846320" y="1463040"/>
            <a:ext cx="4023360" cy="731520"/>
          </a:xfrm>
          <a:prstGeom prst="rect">
            <a:avLst/>
          </a:prstGeom>
          <a:noFill/>
          <a:ln/>
        </p:spPr>
        <p:txBody>
          <a:bodyPr wrap="square" rtlCol="0" anchor="ctr"/>
          <a:lstStyle/>
          <a:p>
            <a:pPr indent="0" marL="0">
              <a:buNone/>
            </a:pPr>
            <a:r>
              <a:rPr lang="en-US" sz="2800" b="1" dirty="0">
                <a:solidFill>
                  <a:srgbClr val="C2410C"/>
                </a:solidFill>
                <a:latin typeface="Arial" pitchFamily="34" charset="0"/>
                <a:ea typeface="Arial" pitchFamily="34" charset="-122"/>
                <a:cs typeface="Arial" pitchFamily="34" charset="-120"/>
              </a:rPr>
              <a:t>SUPPRESSION</a:t>
            </a:r>
            <a:endParaRPr lang="en-US" sz="2800" dirty="0"/>
          </a:p>
        </p:txBody>
      </p:sp>
      <p:sp>
        <p:nvSpPr>
          <p:cNvPr id="6" name="Text 4"/>
          <p:cNvSpPr/>
          <p:nvPr/>
        </p:nvSpPr>
        <p:spPr>
          <a:xfrm>
            <a:off x="4846320" y="2194560"/>
            <a:ext cx="4023360" cy="365760"/>
          </a:xfrm>
          <a:prstGeom prst="rect">
            <a:avLst/>
          </a:prstGeom>
          <a:noFill/>
          <a:ln/>
        </p:spPr>
        <p:txBody>
          <a:bodyPr wrap="square" rtlCol="0" anchor="ctr"/>
          <a:lstStyle/>
          <a:p>
            <a:pPr indent="0" marL="0">
              <a:buNone/>
            </a:pPr>
            <a:r>
              <a:rPr lang="en-US" sz="1800" i="1" dirty="0">
                <a:solidFill>
                  <a:srgbClr val="1E40AF"/>
                </a:solidFill>
                <a:latin typeface="Georgia" pitchFamily="34" charset="0"/>
                <a:ea typeface="Georgia" pitchFamily="34" charset="-122"/>
                <a:cs typeface="Georgia" pitchFamily="34" charset="-120"/>
              </a:rPr>
              <a:t>Refusal of the Call</a:t>
            </a:r>
            <a:endParaRPr lang="en-US" sz="1800" dirty="0"/>
          </a:p>
        </p:txBody>
      </p:sp>
      <p:sp>
        <p:nvSpPr>
          <p:cNvPr id="7" name="Text 5"/>
          <p:cNvSpPr/>
          <p:nvPr/>
        </p:nvSpPr>
        <p:spPr>
          <a:xfrm>
            <a:off x="4846320" y="2743200"/>
            <a:ext cx="4023360" cy="1828800"/>
          </a:xfrm>
          <a:prstGeom prst="rect">
            <a:avLst/>
          </a:prstGeom>
          <a:noFill/>
          <a:ln/>
        </p:spPr>
        <p:txBody>
          <a:bodyPr wrap="square" rtlCol="0" anchor="t"/>
          <a:lstStyle/>
          <a:p>
            <a:pPr indent="0" marL="0">
              <a:buNone/>
            </a:pPr>
            <a:r>
              <a:rPr lang="en-US" sz="1600" dirty="0">
                <a:solidFill>
                  <a:srgbClr val="172554"/>
                </a:solidFill>
                <a:latin typeface="Georgia" pitchFamily="34" charset="0"/>
                <a:ea typeface="Georgia" pitchFamily="34" charset="-122"/>
                <a:cs typeface="Georgia" pitchFamily="34" charset="-120"/>
              </a:rPr>
              <a:t>"When men lack a sense of awe, there will be disaster. Do not intrude in their homes. Do not harass them at work. If you do not interfere, they will not weary of you."</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BAE6FD"/>
        </a:solidFill>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7DD3FC"/>
          </a:solidFill>
          <a:ln/>
        </p:spPr>
      </p:sp>
      <p:sp>
        <p:nvSpPr>
          <p:cNvPr id="3" name="Text 1"/>
          <p:cNvSpPr/>
          <p:nvPr/>
        </p:nvSpPr>
        <p:spPr>
          <a:xfrm>
            <a:off x="0" y="2286000"/>
            <a:ext cx="4572000" cy="457200"/>
          </a:xfrm>
          <a:prstGeom prst="rect">
            <a:avLst/>
          </a:prstGeom>
          <a:noFill/>
          <a:ln/>
        </p:spPr>
        <p:txBody>
          <a:bodyPr wrap="square" rtlCol="0" anchor="ctr"/>
          <a:lstStyle/>
          <a:p>
            <a:pPr algn="ctr" indent="0" marL="0">
              <a:buNone/>
            </a:pPr>
            <a:r>
              <a:rPr lang="en-US" dirty="0">
                <a:solidFill>
                  <a:srgbClr val="172554"/>
                </a:solidFill>
              </a:rPr>
              <a:t>Image Placeholder</a:t>
            </a:r>
            <a:endParaRPr lang="en-US" dirty="0"/>
          </a:p>
        </p:txBody>
      </p:sp>
      <p:sp>
        <p:nvSpPr>
          <p:cNvPr id="4" name="Text 2"/>
          <p:cNvSpPr/>
          <p:nvPr/>
        </p:nvSpPr>
        <p:spPr>
          <a:xfrm>
            <a:off x="4846320" y="1097280"/>
            <a:ext cx="4023360" cy="36576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STAGE 04</a:t>
            </a:r>
            <a:endParaRPr lang="en-US" sz="1400" dirty="0"/>
          </a:p>
        </p:txBody>
      </p:sp>
      <p:sp>
        <p:nvSpPr>
          <p:cNvPr id="5" name="Text 3"/>
          <p:cNvSpPr/>
          <p:nvPr/>
        </p:nvSpPr>
        <p:spPr>
          <a:xfrm>
            <a:off x="4846320" y="1463040"/>
            <a:ext cx="4023360" cy="731520"/>
          </a:xfrm>
          <a:prstGeom prst="rect">
            <a:avLst/>
          </a:prstGeom>
          <a:noFill/>
          <a:ln/>
        </p:spPr>
        <p:txBody>
          <a:bodyPr wrap="square" rtlCol="0" anchor="ctr"/>
          <a:lstStyle/>
          <a:p>
            <a:pPr indent="0" marL="0">
              <a:buNone/>
            </a:pPr>
            <a:r>
              <a:rPr lang="en-US" sz="2800" b="1" dirty="0">
                <a:solidFill>
                  <a:srgbClr val="C2410C"/>
                </a:solidFill>
                <a:latin typeface="Arial" pitchFamily="34" charset="0"/>
                <a:ea typeface="Arial" pitchFamily="34" charset="-122"/>
                <a:cs typeface="Arial" pitchFamily="34" charset="-120"/>
              </a:rPr>
              <a:t>GRACE</a:t>
            </a:r>
            <a:endParaRPr lang="en-US" sz="2800" dirty="0"/>
          </a:p>
        </p:txBody>
      </p:sp>
      <p:sp>
        <p:nvSpPr>
          <p:cNvPr id="6" name="Text 4"/>
          <p:cNvSpPr/>
          <p:nvPr/>
        </p:nvSpPr>
        <p:spPr>
          <a:xfrm>
            <a:off x="4846320" y="2194560"/>
            <a:ext cx="4023360" cy="365760"/>
          </a:xfrm>
          <a:prstGeom prst="rect">
            <a:avLst/>
          </a:prstGeom>
          <a:noFill/>
          <a:ln/>
        </p:spPr>
        <p:txBody>
          <a:bodyPr wrap="square" rtlCol="0" anchor="ctr"/>
          <a:lstStyle/>
          <a:p>
            <a:pPr indent="0" marL="0">
              <a:buNone/>
            </a:pPr>
            <a:r>
              <a:rPr lang="en-US" sz="1800" i="1" dirty="0">
                <a:solidFill>
                  <a:srgbClr val="1E40AF"/>
                </a:solidFill>
                <a:latin typeface="Georgia" pitchFamily="34" charset="0"/>
                <a:ea typeface="Georgia" pitchFamily="34" charset="-122"/>
                <a:cs typeface="Georgia" pitchFamily="34" charset="-120"/>
              </a:rPr>
              <a:t>Meeting the Mentor</a:t>
            </a:r>
            <a:endParaRPr lang="en-US" sz="1800" dirty="0"/>
          </a:p>
        </p:txBody>
      </p:sp>
      <p:sp>
        <p:nvSpPr>
          <p:cNvPr id="7" name="Text 5"/>
          <p:cNvSpPr/>
          <p:nvPr/>
        </p:nvSpPr>
        <p:spPr>
          <a:xfrm>
            <a:off x="4846320" y="2743200"/>
            <a:ext cx="4023360" cy="1828800"/>
          </a:xfrm>
          <a:prstGeom prst="rect">
            <a:avLst/>
          </a:prstGeom>
          <a:noFill/>
          <a:ln/>
        </p:spPr>
        <p:txBody>
          <a:bodyPr wrap="square" rtlCol="0" anchor="t"/>
          <a:lstStyle/>
          <a:p>
            <a:pPr indent="0" marL="0">
              <a:buNone/>
            </a:pPr>
            <a:r>
              <a:rPr lang="en-US" sz="1600" dirty="0">
                <a:solidFill>
                  <a:srgbClr val="172554"/>
                </a:solidFill>
                <a:latin typeface="Georgia" pitchFamily="34" charset="0"/>
                <a:ea typeface="Georgia" pitchFamily="34" charset="-122"/>
                <a:cs typeface="Georgia" pitchFamily="34" charset="-120"/>
              </a:rPr>
              <a:t>"She is good to people who are good. She is also good to people who aren't good. This is true goodness."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BAE6FD"/>
        </a:solidFill>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7DD3FC"/>
          </a:solidFill>
          <a:ln/>
        </p:spPr>
      </p:sp>
      <p:sp>
        <p:nvSpPr>
          <p:cNvPr id="3" name="Text 1"/>
          <p:cNvSpPr/>
          <p:nvPr/>
        </p:nvSpPr>
        <p:spPr>
          <a:xfrm>
            <a:off x="0" y="2286000"/>
            <a:ext cx="4572000" cy="457200"/>
          </a:xfrm>
          <a:prstGeom prst="rect">
            <a:avLst/>
          </a:prstGeom>
          <a:noFill/>
          <a:ln/>
        </p:spPr>
        <p:txBody>
          <a:bodyPr wrap="square" rtlCol="0" anchor="ctr"/>
          <a:lstStyle/>
          <a:p>
            <a:pPr algn="ctr" indent="0" marL="0">
              <a:buNone/>
            </a:pPr>
            <a:r>
              <a:rPr lang="en-US" dirty="0">
                <a:solidFill>
                  <a:srgbClr val="172554"/>
                </a:solidFill>
              </a:rPr>
              <a:t>Image Placeholder</a:t>
            </a:r>
            <a:endParaRPr lang="en-US" dirty="0"/>
          </a:p>
        </p:txBody>
      </p:sp>
      <p:sp>
        <p:nvSpPr>
          <p:cNvPr id="4" name="Text 2"/>
          <p:cNvSpPr/>
          <p:nvPr/>
        </p:nvSpPr>
        <p:spPr>
          <a:xfrm>
            <a:off x="4846320" y="1097280"/>
            <a:ext cx="4023360" cy="36576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STAGE 05</a:t>
            </a:r>
            <a:endParaRPr lang="en-US" sz="1400" dirty="0"/>
          </a:p>
        </p:txBody>
      </p:sp>
      <p:sp>
        <p:nvSpPr>
          <p:cNvPr id="5" name="Text 3"/>
          <p:cNvSpPr/>
          <p:nvPr/>
        </p:nvSpPr>
        <p:spPr>
          <a:xfrm>
            <a:off x="4846320" y="1463040"/>
            <a:ext cx="4023360" cy="731520"/>
          </a:xfrm>
          <a:prstGeom prst="rect">
            <a:avLst/>
          </a:prstGeom>
          <a:noFill/>
          <a:ln/>
        </p:spPr>
        <p:txBody>
          <a:bodyPr wrap="square" rtlCol="0" anchor="ctr"/>
          <a:lstStyle/>
          <a:p>
            <a:pPr indent="0" marL="0">
              <a:buNone/>
            </a:pPr>
            <a:r>
              <a:rPr lang="en-US" sz="2800" b="1" dirty="0">
                <a:solidFill>
                  <a:srgbClr val="C2410C"/>
                </a:solidFill>
                <a:latin typeface="Arial" pitchFamily="34" charset="0"/>
                <a:ea typeface="Arial" pitchFamily="34" charset="-122"/>
                <a:cs typeface="Arial" pitchFamily="34" charset="-120"/>
              </a:rPr>
              <a:t>ENVIRONMENT</a:t>
            </a:r>
            <a:endParaRPr lang="en-US" sz="2800" dirty="0"/>
          </a:p>
        </p:txBody>
      </p:sp>
      <p:sp>
        <p:nvSpPr>
          <p:cNvPr id="6" name="Text 4"/>
          <p:cNvSpPr/>
          <p:nvPr/>
        </p:nvSpPr>
        <p:spPr>
          <a:xfrm>
            <a:off x="4846320" y="2194560"/>
            <a:ext cx="4023360" cy="365760"/>
          </a:xfrm>
          <a:prstGeom prst="rect">
            <a:avLst/>
          </a:prstGeom>
          <a:noFill/>
          <a:ln/>
        </p:spPr>
        <p:txBody>
          <a:bodyPr wrap="square" rtlCol="0" anchor="ctr"/>
          <a:lstStyle/>
          <a:p>
            <a:pPr indent="0" marL="0">
              <a:buNone/>
            </a:pPr>
            <a:r>
              <a:rPr lang="en-US" sz="1800" i="1" dirty="0">
                <a:solidFill>
                  <a:srgbClr val="1E40AF"/>
                </a:solidFill>
                <a:latin typeface="Georgia" pitchFamily="34" charset="0"/>
                <a:ea typeface="Georgia" pitchFamily="34" charset="-122"/>
                <a:cs typeface="Georgia" pitchFamily="34" charset="-120"/>
              </a:rPr>
              <a:t>Crossing the Threshold</a:t>
            </a:r>
            <a:endParaRPr lang="en-US" sz="1800" dirty="0"/>
          </a:p>
        </p:txBody>
      </p:sp>
      <p:sp>
        <p:nvSpPr>
          <p:cNvPr id="7" name="Text 5"/>
          <p:cNvSpPr/>
          <p:nvPr/>
        </p:nvSpPr>
        <p:spPr>
          <a:xfrm>
            <a:off x="4846320" y="2743200"/>
            <a:ext cx="4023360" cy="1828800"/>
          </a:xfrm>
          <a:prstGeom prst="rect">
            <a:avLst/>
          </a:prstGeom>
          <a:noFill/>
          <a:ln/>
        </p:spPr>
        <p:txBody>
          <a:bodyPr wrap="square" rtlCol="0" anchor="t"/>
          <a:lstStyle/>
          <a:p>
            <a:pPr indent="0" marL="0">
              <a:buNone/>
            </a:pPr>
            <a:r>
              <a:rPr lang="en-US" sz="1600" dirty="0">
                <a:solidFill>
                  <a:srgbClr val="172554"/>
                </a:solidFill>
                <a:latin typeface="Georgia" pitchFamily="34" charset="0"/>
                <a:ea typeface="Georgia" pitchFamily="34" charset="-122"/>
                <a:cs typeface="Georgia" pitchFamily="34" charset="-120"/>
              </a:rPr>
              <a:t>"The supreme good is like water, which nourishes all things without trying to. It is content with the low places that people disdain. Thus it is like the Tao."</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BAE6FD"/>
        </a:solidFill>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7DD3FC"/>
          </a:solidFill>
          <a:ln/>
        </p:spPr>
      </p:sp>
      <p:sp>
        <p:nvSpPr>
          <p:cNvPr id="3" name="Text 1"/>
          <p:cNvSpPr/>
          <p:nvPr/>
        </p:nvSpPr>
        <p:spPr>
          <a:xfrm>
            <a:off x="0" y="2286000"/>
            <a:ext cx="4572000" cy="457200"/>
          </a:xfrm>
          <a:prstGeom prst="rect">
            <a:avLst/>
          </a:prstGeom>
          <a:noFill/>
          <a:ln/>
        </p:spPr>
        <p:txBody>
          <a:bodyPr wrap="square" rtlCol="0" anchor="ctr"/>
          <a:lstStyle/>
          <a:p>
            <a:pPr algn="ctr" indent="0" marL="0">
              <a:buNone/>
            </a:pPr>
            <a:r>
              <a:rPr lang="en-US" dirty="0">
                <a:solidFill>
                  <a:srgbClr val="172554"/>
                </a:solidFill>
              </a:rPr>
              <a:t>Image Placeholder</a:t>
            </a:r>
            <a:endParaRPr lang="en-US" dirty="0"/>
          </a:p>
        </p:txBody>
      </p:sp>
      <p:sp>
        <p:nvSpPr>
          <p:cNvPr id="4" name="Text 2"/>
          <p:cNvSpPr/>
          <p:nvPr/>
        </p:nvSpPr>
        <p:spPr>
          <a:xfrm>
            <a:off x="4846320" y="1097280"/>
            <a:ext cx="4023360" cy="36576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STAGE 06</a:t>
            </a:r>
            <a:endParaRPr lang="en-US" sz="1400" dirty="0"/>
          </a:p>
        </p:txBody>
      </p:sp>
      <p:sp>
        <p:nvSpPr>
          <p:cNvPr id="5" name="Text 3"/>
          <p:cNvSpPr/>
          <p:nvPr/>
        </p:nvSpPr>
        <p:spPr>
          <a:xfrm>
            <a:off x="4846320" y="1463040"/>
            <a:ext cx="4023360" cy="731520"/>
          </a:xfrm>
          <a:prstGeom prst="rect">
            <a:avLst/>
          </a:prstGeom>
          <a:noFill/>
          <a:ln/>
        </p:spPr>
        <p:txBody>
          <a:bodyPr wrap="square" rtlCol="0" anchor="ctr"/>
          <a:lstStyle/>
          <a:p>
            <a:pPr indent="0" marL="0">
              <a:buNone/>
            </a:pPr>
            <a:r>
              <a:rPr lang="en-US" sz="2800" b="1" dirty="0">
                <a:solidFill>
                  <a:srgbClr val="C2410C"/>
                </a:solidFill>
                <a:latin typeface="Arial" pitchFamily="34" charset="0"/>
                <a:ea typeface="Arial" pitchFamily="34" charset="-122"/>
                <a:cs typeface="Arial" pitchFamily="34" charset="-120"/>
              </a:rPr>
              <a:t>SPACE</a:t>
            </a:r>
            <a:endParaRPr lang="en-US" sz="2800" dirty="0"/>
          </a:p>
        </p:txBody>
      </p:sp>
      <p:sp>
        <p:nvSpPr>
          <p:cNvPr id="6" name="Text 4"/>
          <p:cNvSpPr/>
          <p:nvPr/>
        </p:nvSpPr>
        <p:spPr>
          <a:xfrm>
            <a:off x="4846320" y="2194560"/>
            <a:ext cx="4023360" cy="365760"/>
          </a:xfrm>
          <a:prstGeom prst="rect">
            <a:avLst/>
          </a:prstGeom>
          <a:noFill/>
          <a:ln/>
        </p:spPr>
        <p:txBody>
          <a:bodyPr wrap="square" rtlCol="0" anchor="ctr"/>
          <a:lstStyle/>
          <a:p>
            <a:pPr indent="0" marL="0">
              <a:buNone/>
            </a:pPr>
            <a:r>
              <a:rPr lang="en-US" sz="1800" i="1" dirty="0">
                <a:solidFill>
                  <a:srgbClr val="1E40AF"/>
                </a:solidFill>
                <a:latin typeface="Georgia" pitchFamily="34" charset="0"/>
                <a:ea typeface="Georgia" pitchFamily="34" charset="-122"/>
                <a:cs typeface="Georgia" pitchFamily="34" charset="-120"/>
              </a:rPr>
              <a:t>Tests, Allies, Enemies</a:t>
            </a:r>
            <a:endParaRPr lang="en-US" sz="1800" dirty="0"/>
          </a:p>
        </p:txBody>
      </p:sp>
      <p:sp>
        <p:nvSpPr>
          <p:cNvPr id="7" name="Text 5"/>
          <p:cNvSpPr/>
          <p:nvPr/>
        </p:nvSpPr>
        <p:spPr>
          <a:xfrm>
            <a:off x="4846320" y="2743200"/>
            <a:ext cx="4023360" cy="1828800"/>
          </a:xfrm>
          <a:prstGeom prst="rect">
            <a:avLst/>
          </a:prstGeom>
          <a:noFill/>
          <a:ln/>
        </p:spPr>
        <p:txBody>
          <a:bodyPr wrap="square" rtlCol="0" anchor="t"/>
          <a:lstStyle/>
          <a:p>
            <a:pPr indent="0" marL="0">
              <a:buNone/>
            </a:pPr>
            <a:r>
              <a:rPr lang="en-US" sz="1600" dirty="0">
                <a:solidFill>
                  <a:srgbClr val="172554"/>
                </a:solidFill>
                <a:latin typeface="Georgia" pitchFamily="34" charset="0"/>
                <a:ea typeface="Georgia" pitchFamily="34" charset="-122"/>
                <a:cs typeface="Georgia" pitchFamily="34" charset="-120"/>
              </a:rPr>
              <a:t>"The space between heaven and earth is like a bellows. The shape changes but not the form; The more it moves, the more it yields."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BAE6FD"/>
        </a:solidFill>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7DD3FC"/>
          </a:solidFill>
          <a:ln/>
        </p:spPr>
      </p:sp>
      <p:sp>
        <p:nvSpPr>
          <p:cNvPr id="3" name="Text 1"/>
          <p:cNvSpPr/>
          <p:nvPr/>
        </p:nvSpPr>
        <p:spPr>
          <a:xfrm>
            <a:off x="0" y="2286000"/>
            <a:ext cx="4572000" cy="457200"/>
          </a:xfrm>
          <a:prstGeom prst="rect">
            <a:avLst/>
          </a:prstGeom>
          <a:noFill/>
          <a:ln/>
        </p:spPr>
        <p:txBody>
          <a:bodyPr wrap="square" rtlCol="0" anchor="ctr"/>
          <a:lstStyle/>
          <a:p>
            <a:pPr algn="ctr" indent="0" marL="0">
              <a:buNone/>
            </a:pPr>
            <a:r>
              <a:rPr lang="en-US" dirty="0">
                <a:solidFill>
                  <a:srgbClr val="172554"/>
                </a:solidFill>
              </a:rPr>
              <a:t>Image Placeholder</a:t>
            </a:r>
            <a:endParaRPr lang="en-US" dirty="0"/>
          </a:p>
        </p:txBody>
      </p:sp>
      <p:sp>
        <p:nvSpPr>
          <p:cNvPr id="4" name="Text 2"/>
          <p:cNvSpPr/>
          <p:nvPr/>
        </p:nvSpPr>
        <p:spPr>
          <a:xfrm>
            <a:off x="4846320" y="1097280"/>
            <a:ext cx="4023360" cy="36576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STAGE 07</a:t>
            </a:r>
            <a:endParaRPr lang="en-US" sz="1400" dirty="0"/>
          </a:p>
        </p:txBody>
      </p:sp>
      <p:sp>
        <p:nvSpPr>
          <p:cNvPr id="5" name="Text 3"/>
          <p:cNvSpPr/>
          <p:nvPr/>
        </p:nvSpPr>
        <p:spPr>
          <a:xfrm>
            <a:off x="4846320" y="1463040"/>
            <a:ext cx="4023360" cy="731520"/>
          </a:xfrm>
          <a:prstGeom prst="rect">
            <a:avLst/>
          </a:prstGeom>
          <a:noFill/>
          <a:ln/>
        </p:spPr>
        <p:txBody>
          <a:bodyPr wrap="square" rtlCol="0" anchor="ctr"/>
          <a:lstStyle/>
          <a:p>
            <a:pPr indent="0" marL="0">
              <a:buNone/>
            </a:pPr>
            <a:r>
              <a:rPr lang="en-US" sz="2800" b="1" dirty="0">
                <a:solidFill>
                  <a:srgbClr val="C2410C"/>
                </a:solidFill>
                <a:latin typeface="Arial" pitchFamily="34" charset="0"/>
                <a:ea typeface="Arial" pitchFamily="34" charset="-122"/>
                <a:cs typeface="Arial" pitchFamily="34" charset="-120"/>
              </a:rPr>
              <a:t>EXPERIENCE</a:t>
            </a:r>
            <a:endParaRPr lang="en-US" sz="2800" dirty="0"/>
          </a:p>
        </p:txBody>
      </p:sp>
      <p:sp>
        <p:nvSpPr>
          <p:cNvPr id="6" name="Text 4"/>
          <p:cNvSpPr/>
          <p:nvPr/>
        </p:nvSpPr>
        <p:spPr>
          <a:xfrm>
            <a:off x="4846320" y="2194560"/>
            <a:ext cx="4023360" cy="365760"/>
          </a:xfrm>
          <a:prstGeom prst="rect">
            <a:avLst/>
          </a:prstGeom>
          <a:noFill/>
          <a:ln/>
        </p:spPr>
        <p:txBody>
          <a:bodyPr wrap="square" rtlCol="0" anchor="ctr"/>
          <a:lstStyle/>
          <a:p>
            <a:pPr indent="0" marL="0">
              <a:buNone/>
            </a:pPr>
            <a:r>
              <a:rPr lang="en-US" sz="1800" i="1" dirty="0">
                <a:solidFill>
                  <a:srgbClr val="1E40AF"/>
                </a:solidFill>
                <a:latin typeface="Georgia" pitchFamily="34" charset="0"/>
                <a:ea typeface="Georgia" pitchFamily="34" charset="-122"/>
                <a:cs typeface="Georgia" pitchFamily="34" charset="-120"/>
              </a:rPr>
              <a:t>Approach to Inmost Cave</a:t>
            </a:r>
            <a:endParaRPr lang="en-US" sz="1800" dirty="0"/>
          </a:p>
        </p:txBody>
      </p:sp>
      <p:sp>
        <p:nvSpPr>
          <p:cNvPr id="7" name="Text 5"/>
          <p:cNvSpPr/>
          <p:nvPr/>
        </p:nvSpPr>
        <p:spPr>
          <a:xfrm>
            <a:off x="4846320" y="2743200"/>
            <a:ext cx="4023360" cy="1828800"/>
          </a:xfrm>
          <a:prstGeom prst="rect">
            <a:avLst/>
          </a:prstGeom>
          <a:noFill/>
          <a:ln/>
        </p:spPr>
        <p:txBody>
          <a:bodyPr wrap="square" rtlCol="0" anchor="t"/>
          <a:lstStyle/>
          <a:p>
            <a:pPr indent="0" marL="0">
              <a:buNone/>
            </a:pPr>
            <a:r>
              <a:rPr lang="en-US" sz="1600" dirty="0">
                <a:solidFill>
                  <a:srgbClr val="172554"/>
                </a:solidFill>
                <a:latin typeface="Georgia" pitchFamily="34" charset="0"/>
                <a:ea typeface="Georgia" pitchFamily="34" charset="-122"/>
                <a:cs typeface="Georgia" pitchFamily="34" charset="-120"/>
              </a:rPr>
              <a:t>"Can you coax your mind from its wandering and keep to the original oneness? Can you let your body become supple as a newborn child's?"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BAE6FD"/>
        </a:solidFill>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7DD3FC"/>
          </a:solidFill>
          <a:ln/>
        </p:spPr>
      </p:sp>
      <p:sp>
        <p:nvSpPr>
          <p:cNvPr id="3" name="Text 1"/>
          <p:cNvSpPr/>
          <p:nvPr/>
        </p:nvSpPr>
        <p:spPr>
          <a:xfrm>
            <a:off x="0" y="2286000"/>
            <a:ext cx="4572000" cy="457200"/>
          </a:xfrm>
          <a:prstGeom prst="rect">
            <a:avLst/>
          </a:prstGeom>
          <a:noFill/>
          <a:ln/>
        </p:spPr>
        <p:txBody>
          <a:bodyPr wrap="square" rtlCol="0" anchor="ctr"/>
          <a:lstStyle/>
          <a:p>
            <a:pPr algn="ctr" indent="0" marL="0">
              <a:buNone/>
            </a:pPr>
            <a:r>
              <a:rPr lang="en-US" dirty="0">
                <a:solidFill>
                  <a:srgbClr val="172554"/>
                </a:solidFill>
              </a:rPr>
              <a:t>Image Placeholder</a:t>
            </a:r>
            <a:endParaRPr lang="en-US" dirty="0"/>
          </a:p>
        </p:txBody>
      </p:sp>
      <p:sp>
        <p:nvSpPr>
          <p:cNvPr id="4" name="Text 2"/>
          <p:cNvSpPr/>
          <p:nvPr/>
        </p:nvSpPr>
        <p:spPr>
          <a:xfrm>
            <a:off x="4846320" y="1097280"/>
            <a:ext cx="4023360" cy="36576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STAGE 08</a:t>
            </a:r>
            <a:endParaRPr lang="en-US" sz="1400" dirty="0"/>
          </a:p>
        </p:txBody>
      </p:sp>
      <p:sp>
        <p:nvSpPr>
          <p:cNvPr id="5" name="Text 3"/>
          <p:cNvSpPr/>
          <p:nvPr/>
        </p:nvSpPr>
        <p:spPr>
          <a:xfrm>
            <a:off x="4846320" y="1463040"/>
            <a:ext cx="4023360" cy="731520"/>
          </a:xfrm>
          <a:prstGeom prst="rect">
            <a:avLst/>
          </a:prstGeom>
          <a:noFill/>
          <a:ln/>
        </p:spPr>
        <p:txBody>
          <a:bodyPr wrap="square" rtlCol="0" anchor="ctr"/>
          <a:lstStyle/>
          <a:p>
            <a:pPr indent="0" marL="0">
              <a:buNone/>
            </a:pPr>
            <a:r>
              <a:rPr lang="en-US" sz="2800" b="1" dirty="0">
                <a:solidFill>
                  <a:srgbClr val="C2410C"/>
                </a:solidFill>
                <a:latin typeface="Arial" pitchFamily="34" charset="0"/>
                <a:ea typeface="Arial" pitchFamily="34" charset="-122"/>
                <a:cs typeface="Arial" pitchFamily="34" charset="-120"/>
              </a:rPr>
              <a:t>INTEGRATION</a:t>
            </a:r>
            <a:endParaRPr lang="en-US" sz="2800" dirty="0"/>
          </a:p>
        </p:txBody>
      </p:sp>
      <p:sp>
        <p:nvSpPr>
          <p:cNvPr id="6" name="Text 4"/>
          <p:cNvSpPr/>
          <p:nvPr/>
        </p:nvSpPr>
        <p:spPr>
          <a:xfrm>
            <a:off x="4846320" y="2194560"/>
            <a:ext cx="4023360" cy="365760"/>
          </a:xfrm>
          <a:prstGeom prst="rect">
            <a:avLst/>
          </a:prstGeom>
          <a:noFill/>
          <a:ln/>
        </p:spPr>
        <p:txBody>
          <a:bodyPr wrap="square" rtlCol="0" anchor="ctr"/>
          <a:lstStyle/>
          <a:p>
            <a:pPr indent="0" marL="0">
              <a:buNone/>
            </a:pPr>
            <a:r>
              <a:rPr lang="en-US" sz="1800" i="1" dirty="0">
                <a:solidFill>
                  <a:srgbClr val="1E40AF"/>
                </a:solidFill>
                <a:latin typeface="Georgia" pitchFamily="34" charset="0"/>
                <a:ea typeface="Georgia" pitchFamily="34" charset="-122"/>
                <a:cs typeface="Georgia" pitchFamily="34" charset="-120"/>
              </a:rPr>
              <a:t>The Supreme Ordeal</a:t>
            </a:r>
            <a:endParaRPr lang="en-US" sz="1800" dirty="0"/>
          </a:p>
        </p:txBody>
      </p:sp>
      <p:sp>
        <p:nvSpPr>
          <p:cNvPr id="7" name="Text 5"/>
          <p:cNvSpPr/>
          <p:nvPr/>
        </p:nvSpPr>
        <p:spPr>
          <a:xfrm>
            <a:off x="4846320" y="2743200"/>
            <a:ext cx="4023360" cy="1828800"/>
          </a:xfrm>
          <a:prstGeom prst="rect">
            <a:avLst/>
          </a:prstGeom>
          <a:noFill/>
          <a:ln/>
        </p:spPr>
        <p:txBody>
          <a:bodyPr wrap="square" rtlCol="0" anchor="t"/>
          <a:lstStyle/>
          <a:p>
            <a:pPr indent="0" marL="0">
              <a:buNone/>
            </a:pPr>
            <a:r>
              <a:rPr lang="en-US" sz="1600" dirty="0">
                <a:solidFill>
                  <a:srgbClr val="172554"/>
                </a:solidFill>
                <a:latin typeface="Georgia" pitchFamily="34" charset="0"/>
                <a:ea typeface="Georgia" pitchFamily="34" charset="-122"/>
                <a:cs typeface="Georgia" pitchFamily="34" charset="-120"/>
              </a:rPr>
              <a:t>"If you want to become whole, let yourself be partial. If you want to become straight, let yourself be crooked. If you want to become full, let yourself be empty."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BAE6FD"/>
        </a:solidFill>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7DD3FC"/>
          </a:solidFill>
          <a:ln/>
        </p:spPr>
      </p:sp>
      <p:sp>
        <p:nvSpPr>
          <p:cNvPr id="3" name="Text 1"/>
          <p:cNvSpPr/>
          <p:nvPr/>
        </p:nvSpPr>
        <p:spPr>
          <a:xfrm>
            <a:off x="0" y="2286000"/>
            <a:ext cx="4572000" cy="457200"/>
          </a:xfrm>
          <a:prstGeom prst="rect">
            <a:avLst/>
          </a:prstGeom>
          <a:noFill/>
          <a:ln/>
        </p:spPr>
        <p:txBody>
          <a:bodyPr wrap="square" rtlCol="0" anchor="ctr"/>
          <a:lstStyle/>
          <a:p>
            <a:pPr algn="ctr" indent="0" marL="0">
              <a:buNone/>
            </a:pPr>
            <a:r>
              <a:rPr lang="en-US" dirty="0">
                <a:solidFill>
                  <a:srgbClr val="172554"/>
                </a:solidFill>
              </a:rPr>
              <a:t>Image Placeholder</a:t>
            </a:r>
            <a:endParaRPr lang="en-US" dirty="0"/>
          </a:p>
        </p:txBody>
      </p:sp>
      <p:sp>
        <p:nvSpPr>
          <p:cNvPr id="4" name="Text 2"/>
          <p:cNvSpPr/>
          <p:nvPr/>
        </p:nvSpPr>
        <p:spPr>
          <a:xfrm>
            <a:off x="4846320" y="1097280"/>
            <a:ext cx="4023360" cy="36576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STAGE 09</a:t>
            </a:r>
            <a:endParaRPr lang="en-US" sz="1400" dirty="0"/>
          </a:p>
        </p:txBody>
      </p:sp>
      <p:sp>
        <p:nvSpPr>
          <p:cNvPr id="5" name="Text 3"/>
          <p:cNvSpPr/>
          <p:nvPr/>
        </p:nvSpPr>
        <p:spPr>
          <a:xfrm>
            <a:off x="4846320" y="1463040"/>
            <a:ext cx="4023360" cy="731520"/>
          </a:xfrm>
          <a:prstGeom prst="rect">
            <a:avLst/>
          </a:prstGeom>
          <a:noFill/>
          <a:ln/>
        </p:spPr>
        <p:txBody>
          <a:bodyPr wrap="square" rtlCol="0" anchor="ctr"/>
          <a:lstStyle/>
          <a:p>
            <a:pPr indent="0" marL="0">
              <a:buNone/>
            </a:pPr>
            <a:r>
              <a:rPr lang="en-US" sz="2800" b="1" dirty="0">
                <a:solidFill>
                  <a:srgbClr val="C2410C"/>
                </a:solidFill>
                <a:latin typeface="Arial" pitchFamily="34" charset="0"/>
                <a:ea typeface="Arial" pitchFamily="34" charset="-122"/>
                <a:cs typeface="Arial" pitchFamily="34" charset="-120"/>
              </a:rPr>
              <a:t>RESONANCE</a:t>
            </a:r>
            <a:endParaRPr lang="en-US" sz="2800" dirty="0"/>
          </a:p>
        </p:txBody>
      </p:sp>
      <p:sp>
        <p:nvSpPr>
          <p:cNvPr id="6" name="Text 4"/>
          <p:cNvSpPr/>
          <p:nvPr/>
        </p:nvSpPr>
        <p:spPr>
          <a:xfrm>
            <a:off x="4846320" y="2194560"/>
            <a:ext cx="4023360" cy="365760"/>
          </a:xfrm>
          <a:prstGeom prst="rect">
            <a:avLst/>
          </a:prstGeom>
          <a:noFill/>
          <a:ln/>
        </p:spPr>
        <p:txBody>
          <a:bodyPr wrap="square" rtlCol="0" anchor="ctr"/>
          <a:lstStyle/>
          <a:p>
            <a:pPr indent="0" marL="0">
              <a:buNone/>
            </a:pPr>
            <a:r>
              <a:rPr lang="en-US" sz="1800" i="1" dirty="0">
                <a:solidFill>
                  <a:srgbClr val="1E40AF"/>
                </a:solidFill>
                <a:latin typeface="Georgia" pitchFamily="34" charset="0"/>
                <a:ea typeface="Georgia" pitchFamily="34" charset="-122"/>
                <a:cs typeface="Georgia" pitchFamily="34" charset="-120"/>
              </a:rPr>
              <a:t>Seizing the Reward</a:t>
            </a:r>
            <a:endParaRPr lang="en-US" sz="1800" dirty="0"/>
          </a:p>
        </p:txBody>
      </p:sp>
      <p:sp>
        <p:nvSpPr>
          <p:cNvPr id="7" name="Text 5"/>
          <p:cNvSpPr/>
          <p:nvPr/>
        </p:nvSpPr>
        <p:spPr>
          <a:xfrm>
            <a:off x="4846320" y="2743200"/>
            <a:ext cx="4023360" cy="1828800"/>
          </a:xfrm>
          <a:prstGeom prst="rect">
            <a:avLst/>
          </a:prstGeom>
          <a:noFill/>
          <a:ln/>
        </p:spPr>
        <p:txBody>
          <a:bodyPr wrap="square" rtlCol="0" anchor="t"/>
          <a:lstStyle/>
          <a:p>
            <a:pPr indent="0" marL="0">
              <a:buNone/>
            </a:pPr>
            <a:r>
              <a:rPr lang="en-US" sz="1600" dirty="0">
                <a:solidFill>
                  <a:srgbClr val="172554"/>
                </a:solidFill>
                <a:latin typeface="Georgia" pitchFamily="34" charset="0"/>
                <a:ea typeface="Georgia" pitchFamily="34" charset="-122"/>
                <a:cs typeface="Georgia" pitchFamily="34" charset="-120"/>
              </a:rPr>
              <a:t>"In harmony with the Tao, the sky is clear and spacious, the earth is solid and full, all creatures flourish together, content with the way they are."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BAE6FD"/>
        </a:solidFill>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7DD3FC"/>
          </a:solidFill>
          <a:ln/>
        </p:spPr>
      </p:sp>
      <p:sp>
        <p:nvSpPr>
          <p:cNvPr id="3" name="Text 1"/>
          <p:cNvSpPr/>
          <p:nvPr/>
        </p:nvSpPr>
        <p:spPr>
          <a:xfrm>
            <a:off x="0" y="2286000"/>
            <a:ext cx="4572000" cy="457200"/>
          </a:xfrm>
          <a:prstGeom prst="rect">
            <a:avLst/>
          </a:prstGeom>
          <a:noFill/>
          <a:ln/>
        </p:spPr>
        <p:txBody>
          <a:bodyPr wrap="square" rtlCol="0" anchor="ctr"/>
          <a:lstStyle/>
          <a:p>
            <a:pPr algn="ctr" indent="0" marL="0">
              <a:buNone/>
            </a:pPr>
            <a:r>
              <a:rPr lang="en-US" dirty="0">
                <a:solidFill>
                  <a:srgbClr val="172554"/>
                </a:solidFill>
              </a:rPr>
              <a:t>Image Placeholder</a:t>
            </a:r>
            <a:endParaRPr lang="en-US" dirty="0"/>
          </a:p>
        </p:txBody>
      </p:sp>
      <p:sp>
        <p:nvSpPr>
          <p:cNvPr id="4" name="Text 2"/>
          <p:cNvSpPr/>
          <p:nvPr/>
        </p:nvSpPr>
        <p:spPr>
          <a:xfrm>
            <a:off x="4846320" y="1097280"/>
            <a:ext cx="4023360" cy="36576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STAGE 10</a:t>
            </a:r>
            <a:endParaRPr lang="en-US" sz="1400" dirty="0"/>
          </a:p>
        </p:txBody>
      </p:sp>
      <p:sp>
        <p:nvSpPr>
          <p:cNvPr id="5" name="Text 3"/>
          <p:cNvSpPr/>
          <p:nvPr/>
        </p:nvSpPr>
        <p:spPr>
          <a:xfrm>
            <a:off x="4846320" y="1463040"/>
            <a:ext cx="4023360" cy="731520"/>
          </a:xfrm>
          <a:prstGeom prst="rect">
            <a:avLst/>
          </a:prstGeom>
          <a:noFill/>
          <a:ln/>
        </p:spPr>
        <p:txBody>
          <a:bodyPr wrap="square" rtlCol="0" anchor="ctr"/>
          <a:lstStyle/>
          <a:p>
            <a:pPr indent="0" marL="0">
              <a:buNone/>
            </a:pPr>
            <a:r>
              <a:rPr lang="en-US" sz="2800" b="1" dirty="0">
                <a:solidFill>
                  <a:srgbClr val="C2410C"/>
                </a:solidFill>
                <a:latin typeface="Arial" pitchFamily="34" charset="0"/>
                <a:ea typeface="Arial" pitchFamily="34" charset="-122"/>
                <a:cs typeface="Arial" pitchFamily="34" charset="-120"/>
              </a:rPr>
              <a:t>STEWARDSHIP</a:t>
            </a:r>
            <a:endParaRPr lang="en-US" sz="2800" dirty="0"/>
          </a:p>
        </p:txBody>
      </p:sp>
      <p:sp>
        <p:nvSpPr>
          <p:cNvPr id="6" name="Text 4"/>
          <p:cNvSpPr/>
          <p:nvPr/>
        </p:nvSpPr>
        <p:spPr>
          <a:xfrm>
            <a:off x="4846320" y="2194560"/>
            <a:ext cx="4023360" cy="365760"/>
          </a:xfrm>
          <a:prstGeom prst="rect">
            <a:avLst/>
          </a:prstGeom>
          <a:noFill/>
          <a:ln/>
        </p:spPr>
        <p:txBody>
          <a:bodyPr wrap="square" rtlCol="0" anchor="ctr"/>
          <a:lstStyle/>
          <a:p>
            <a:pPr indent="0" marL="0">
              <a:buNone/>
            </a:pPr>
            <a:r>
              <a:rPr lang="en-US" sz="1800" i="1" dirty="0">
                <a:solidFill>
                  <a:srgbClr val="1E40AF"/>
                </a:solidFill>
                <a:latin typeface="Georgia" pitchFamily="34" charset="0"/>
                <a:ea typeface="Georgia" pitchFamily="34" charset="-122"/>
                <a:cs typeface="Georgia" pitchFamily="34" charset="-120"/>
              </a:rPr>
              <a:t>The Road Back</a:t>
            </a:r>
            <a:endParaRPr lang="en-US" sz="1800" dirty="0"/>
          </a:p>
        </p:txBody>
      </p:sp>
      <p:sp>
        <p:nvSpPr>
          <p:cNvPr id="7" name="Text 5"/>
          <p:cNvSpPr/>
          <p:nvPr/>
        </p:nvSpPr>
        <p:spPr>
          <a:xfrm>
            <a:off x="4846320" y="2743200"/>
            <a:ext cx="4023360" cy="1828800"/>
          </a:xfrm>
          <a:prstGeom prst="rect">
            <a:avLst/>
          </a:prstGeom>
          <a:noFill/>
          <a:ln/>
        </p:spPr>
        <p:txBody>
          <a:bodyPr wrap="square" rtlCol="0" anchor="t"/>
          <a:lstStyle/>
          <a:p>
            <a:pPr indent="0" marL="0">
              <a:buNone/>
            </a:pPr>
            <a:r>
              <a:rPr lang="en-US" sz="1600" dirty="0">
                <a:solidFill>
                  <a:srgbClr val="172554"/>
                </a:solidFill>
                <a:latin typeface="Georgia" pitchFamily="34" charset="0"/>
                <a:ea typeface="Georgia" pitchFamily="34" charset="-122"/>
                <a:cs typeface="Georgia" pitchFamily="34" charset="-120"/>
              </a:rPr>
              <a:t>"Governing a large country is like frying a small fish. You spoil it with too much poking."</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BAE6FD"/>
        </a:solidFill>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7DD3FC"/>
          </a:solidFill>
          <a:ln/>
        </p:spPr>
      </p:sp>
      <p:sp>
        <p:nvSpPr>
          <p:cNvPr id="3" name="Text 1"/>
          <p:cNvSpPr/>
          <p:nvPr/>
        </p:nvSpPr>
        <p:spPr>
          <a:xfrm>
            <a:off x="0" y="2286000"/>
            <a:ext cx="4572000" cy="457200"/>
          </a:xfrm>
          <a:prstGeom prst="rect">
            <a:avLst/>
          </a:prstGeom>
          <a:noFill/>
          <a:ln/>
        </p:spPr>
        <p:txBody>
          <a:bodyPr wrap="square" rtlCol="0" anchor="ctr"/>
          <a:lstStyle/>
          <a:p>
            <a:pPr algn="ctr" indent="0" marL="0">
              <a:buNone/>
            </a:pPr>
            <a:r>
              <a:rPr lang="en-US" dirty="0">
                <a:solidFill>
                  <a:srgbClr val="172554"/>
                </a:solidFill>
              </a:rPr>
              <a:t>Image Placeholder</a:t>
            </a:r>
            <a:endParaRPr lang="en-US" dirty="0"/>
          </a:p>
        </p:txBody>
      </p:sp>
      <p:sp>
        <p:nvSpPr>
          <p:cNvPr id="4" name="Text 2"/>
          <p:cNvSpPr/>
          <p:nvPr/>
        </p:nvSpPr>
        <p:spPr>
          <a:xfrm>
            <a:off x="4846320" y="1097280"/>
            <a:ext cx="4023360" cy="36576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STAGE 11</a:t>
            </a:r>
            <a:endParaRPr lang="en-US" sz="1400" dirty="0"/>
          </a:p>
        </p:txBody>
      </p:sp>
      <p:sp>
        <p:nvSpPr>
          <p:cNvPr id="5" name="Text 3"/>
          <p:cNvSpPr/>
          <p:nvPr/>
        </p:nvSpPr>
        <p:spPr>
          <a:xfrm>
            <a:off x="4846320" y="1463040"/>
            <a:ext cx="4023360" cy="731520"/>
          </a:xfrm>
          <a:prstGeom prst="rect">
            <a:avLst/>
          </a:prstGeom>
          <a:noFill/>
          <a:ln/>
        </p:spPr>
        <p:txBody>
          <a:bodyPr wrap="square" rtlCol="0" anchor="ctr"/>
          <a:lstStyle/>
          <a:p>
            <a:pPr indent="0" marL="0">
              <a:buNone/>
            </a:pPr>
            <a:r>
              <a:rPr lang="en-US" sz="2800" b="1" dirty="0">
                <a:solidFill>
                  <a:srgbClr val="C2410C"/>
                </a:solidFill>
                <a:latin typeface="Arial" pitchFamily="34" charset="0"/>
                <a:ea typeface="Arial" pitchFamily="34" charset="-122"/>
                <a:cs typeface="Arial" pitchFamily="34" charset="-120"/>
              </a:rPr>
              <a:t>SELF-MASTERY</a:t>
            </a:r>
            <a:endParaRPr lang="en-US" sz="2800" dirty="0"/>
          </a:p>
        </p:txBody>
      </p:sp>
      <p:sp>
        <p:nvSpPr>
          <p:cNvPr id="6" name="Text 4"/>
          <p:cNvSpPr/>
          <p:nvPr/>
        </p:nvSpPr>
        <p:spPr>
          <a:xfrm>
            <a:off x="4846320" y="2194560"/>
            <a:ext cx="4023360" cy="365760"/>
          </a:xfrm>
          <a:prstGeom prst="rect">
            <a:avLst/>
          </a:prstGeom>
          <a:noFill/>
          <a:ln/>
        </p:spPr>
        <p:txBody>
          <a:bodyPr wrap="square" rtlCol="0" anchor="ctr"/>
          <a:lstStyle/>
          <a:p>
            <a:pPr indent="0" marL="0">
              <a:buNone/>
            </a:pPr>
            <a:r>
              <a:rPr lang="en-US" sz="1800" i="1" dirty="0">
                <a:solidFill>
                  <a:srgbClr val="1E40AF"/>
                </a:solidFill>
                <a:latin typeface="Georgia" pitchFamily="34" charset="0"/>
                <a:ea typeface="Georgia" pitchFamily="34" charset="-122"/>
                <a:cs typeface="Georgia" pitchFamily="34" charset="-120"/>
              </a:rPr>
              <a:t>Resurrection</a:t>
            </a:r>
            <a:endParaRPr lang="en-US" sz="1800" dirty="0"/>
          </a:p>
        </p:txBody>
      </p:sp>
      <p:sp>
        <p:nvSpPr>
          <p:cNvPr id="7" name="Text 5"/>
          <p:cNvSpPr/>
          <p:nvPr/>
        </p:nvSpPr>
        <p:spPr>
          <a:xfrm>
            <a:off x="4846320" y="2743200"/>
            <a:ext cx="4023360" cy="1828800"/>
          </a:xfrm>
          <a:prstGeom prst="rect">
            <a:avLst/>
          </a:prstGeom>
          <a:noFill/>
          <a:ln/>
        </p:spPr>
        <p:txBody>
          <a:bodyPr wrap="square" rtlCol="0" anchor="t"/>
          <a:lstStyle/>
          <a:p>
            <a:pPr indent="0" marL="0">
              <a:buNone/>
            </a:pPr>
            <a:r>
              <a:rPr lang="en-US" sz="1600" dirty="0">
                <a:solidFill>
                  <a:srgbClr val="172554"/>
                </a:solidFill>
                <a:latin typeface="Georgia" pitchFamily="34" charset="0"/>
                <a:ea typeface="Georgia" pitchFamily="34" charset="-122"/>
                <a:cs typeface="Georgia" pitchFamily="34" charset="-120"/>
              </a:rPr>
              <a:t>"Act without doing; work without effort. Think of the small as large and the few as many. Confront the difficult while it is still easy; accomplish the great task by a series of small acts."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BAE6FD"/>
        </a:solidFill>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7DD3FC"/>
          </a:solidFill>
          <a:ln/>
        </p:spPr>
      </p:sp>
      <p:sp>
        <p:nvSpPr>
          <p:cNvPr id="3" name="Text 1"/>
          <p:cNvSpPr/>
          <p:nvPr/>
        </p:nvSpPr>
        <p:spPr>
          <a:xfrm>
            <a:off x="0" y="2286000"/>
            <a:ext cx="4572000" cy="457200"/>
          </a:xfrm>
          <a:prstGeom prst="rect">
            <a:avLst/>
          </a:prstGeom>
          <a:noFill/>
          <a:ln/>
        </p:spPr>
        <p:txBody>
          <a:bodyPr wrap="square" rtlCol="0" anchor="ctr"/>
          <a:lstStyle/>
          <a:p>
            <a:pPr algn="ctr" indent="0" marL="0">
              <a:buNone/>
            </a:pPr>
            <a:r>
              <a:rPr lang="en-US" dirty="0">
                <a:solidFill>
                  <a:srgbClr val="172554"/>
                </a:solidFill>
              </a:rPr>
              <a:t>Image Placeholder</a:t>
            </a:r>
            <a:endParaRPr lang="en-US" dirty="0"/>
          </a:p>
        </p:txBody>
      </p:sp>
      <p:sp>
        <p:nvSpPr>
          <p:cNvPr id="4" name="Text 2"/>
          <p:cNvSpPr/>
          <p:nvPr/>
        </p:nvSpPr>
        <p:spPr>
          <a:xfrm>
            <a:off x="4846320" y="1097280"/>
            <a:ext cx="4023360" cy="365760"/>
          </a:xfrm>
          <a:prstGeom prst="rect">
            <a:avLst/>
          </a:prstGeom>
          <a:noFill/>
          <a:ln/>
        </p:spPr>
        <p:txBody>
          <a:bodyPr wrap="square" rtlCol="0" anchor="ctr"/>
          <a:lstStyle/>
          <a:p>
            <a:pPr indent="0" marL="0">
              <a:buNone/>
            </a:pPr>
            <a:r>
              <a:rPr lang="en-US" sz="1400" b="1" dirty="0">
                <a:solidFill>
                  <a:srgbClr val="1E40AF"/>
                </a:solidFill>
                <a:latin typeface="Arial" pitchFamily="34" charset="0"/>
                <a:ea typeface="Arial" pitchFamily="34" charset="-122"/>
                <a:cs typeface="Arial" pitchFamily="34" charset="-120"/>
              </a:rPr>
              <a:t>STAGE 12</a:t>
            </a:r>
            <a:endParaRPr lang="en-US" sz="1400" dirty="0"/>
          </a:p>
        </p:txBody>
      </p:sp>
      <p:sp>
        <p:nvSpPr>
          <p:cNvPr id="5" name="Text 3"/>
          <p:cNvSpPr/>
          <p:nvPr/>
        </p:nvSpPr>
        <p:spPr>
          <a:xfrm>
            <a:off x="4846320" y="1463040"/>
            <a:ext cx="4023360" cy="731520"/>
          </a:xfrm>
          <a:prstGeom prst="rect">
            <a:avLst/>
          </a:prstGeom>
          <a:noFill/>
          <a:ln/>
        </p:spPr>
        <p:txBody>
          <a:bodyPr wrap="square" rtlCol="0" anchor="ctr"/>
          <a:lstStyle/>
          <a:p>
            <a:pPr indent="0" marL="0">
              <a:buNone/>
            </a:pPr>
            <a:r>
              <a:rPr lang="en-US" sz="2800" b="1" dirty="0">
                <a:solidFill>
                  <a:srgbClr val="C2410C"/>
                </a:solidFill>
                <a:latin typeface="Arial" pitchFamily="34" charset="0"/>
                <a:ea typeface="Arial" pitchFamily="34" charset="-122"/>
                <a:cs typeface="Arial" pitchFamily="34" charset="-120"/>
              </a:rPr>
              <a:t>EVOLUTION</a:t>
            </a:r>
            <a:endParaRPr lang="en-US" sz="2800" dirty="0"/>
          </a:p>
        </p:txBody>
      </p:sp>
      <p:sp>
        <p:nvSpPr>
          <p:cNvPr id="6" name="Text 4"/>
          <p:cNvSpPr/>
          <p:nvPr/>
        </p:nvSpPr>
        <p:spPr>
          <a:xfrm>
            <a:off x="4846320" y="2194560"/>
            <a:ext cx="4023360" cy="365760"/>
          </a:xfrm>
          <a:prstGeom prst="rect">
            <a:avLst/>
          </a:prstGeom>
          <a:noFill/>
          <a:ln/>
        </p:spPr>
        <p:txBody>
          <a:bodyPr wrap="square" rtlCol="0" anchor="ctr"/>
          <a:lstStyle/>
          <a:p>
            <a:pPr indent="0" marL="0">
              <a:buNone/>
            </a:pPr>
            <a:r>
              <a:rPr lang="en-US" sz="1800" i="1" dirty="0">
                <a:solidFill>
                  <a:srgbClr val="1E40AF"/>
                </a:solidFill>
                <a:latin typeface="Georgia" pitchFamily="34" charset="0"/>
                <a:ea typeface="Georgia" pitchFamily="34" charset="-122"/>
                <a:cs typeface="Georgia" pitchFamily="34" charset="-120"/>
              </a:rPr>
              <a:t>Return with the Elixir</a:t>
            </a:r>
            <a:endParaRPr lang="en-US" sz="1800" dirty="0"/>
          </a:p>
        </p:txBody>
      </p:sp>
      <p:sp>
        <p:nvSpPr>
          <p:cNvPr id="7" name="Text 5"/>
          <p:cNvSpPr/>
          <p:nvPr/>
        </p:nvSpPr>
        <p:spPr>
          <a:xfrm>
            <a:off x="4846320" y="2743200"/>
            <a:ext cx="4023360" cy="1828800"/>
          </a:xfrm>
          <a:prstGeom prst="rect">
            <a:avLst/>
          </a:prstGeom>
          <a:noFill/>
          <a:ln/>
        </p:spPr>
        <p:txBody>
          <a:bodyPr wrap="square" rtlCol="0" anchor="t"/>
          <a:lstStyle/>
          <a:p>
            <a:pPr indent="0" marL="0">
              <a:buNone/>
            </a:pPr>
            <a:r>
              <a:rPr lang="en-US" sz="1600" dirty="0">
                <a:solidFill>
                  <a:srgbClr val="172554"/>
                </a:solidFill>
                <a:latin typeface="Georgia" pitchFamily="34" charset="0"/>
                <a:ea typeface="Georgia" pitchFamily="34" charset="-122"/>
                <a:cs typeface="Georgia" pitchFamily="34" charset="-120"/>
              </a:rPr>
              <a:t>"Man follows the earth. Earth follows heaven. Heaven follows the Tao. Tao follows what is natural."</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2026-05-15T21:15:10Z</dcterms:created>
  <dcterms:modified xsi:type="dcterms:W3CDTF">2026-05-15T21:15:10Z</dcterms:modified>
</cp:coreProperties>
</file>