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Part 2: The Practice Nook &amp; Binder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Flow state is fragile. It cannot survive in chaos. The external environment dictates your internal state. A cluttered desk creates a cluttered mind. To enter flow, you must first create a dedicated Practice Nook. A sacred space where the only objective is sound.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Enter 'Binder Control'. This isn't just a folder; it is an external hard drive for your attention. By logging your minutes and habits physically, you offload the cognitive burden of remembering what to practice. You free up 100 percent of your mental RAM to focus entirely on how you 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SLIDE">
    <p:bg>
      <p:bgPr>
        <a:solidFill>
          <a:srgbClr val="0A0A0F"/>
        </a:solidFill>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indent="0" marL="0">
              <a:buNone/>
            </a:pPr>
            <a:r>
              <a:rPr lang="en-US" sz="1200" dirty="0">
                <a:solidFill>
                  <a:srgbClr val="A0A0C0"/>
                </a:solidFill>
                <a:latin typeface="Inter" pitchFamily="34" charset="0"/>
                <a:ea typeface="Inter" pitchFamily="34" charset="-122"/>
                <a:cs typeface="Inter" pitchFamily="34" charset="-120"/>
              </a:rPr>
              <a:t>BERTRAND LAURENCE GUITAR STUDIO | MASTERCLASS</a:t>
            </a:r>
            <a:endParaRPr lang="en-US" sz="1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2057400"/>
            <a:ext cx="8229600" cy="914400"/>
          </a:xfrm>
          <a:prstGeom prst="rect">
            <a:avLst/>
          </a:prstGeom>
          <a:noFill/>
          <a:ln/>
        </p:spPr>
        <p:txBody>
          <a:bodyPr wrap="square" rtlCol="0" anchor="ctr"/>
          <a:lstStyle/>
          <a:p>
            <a:pPr algn="ctr" indent="0" marL="0">
              <a:buNone/>
            </a:pPr>
            <a:r>
              <a:rPr lang="en-US" sz="5400" b="1" dirty="0">
                <a:solidFill>
                  <a:srgbClr val="FFFFFF"/>
                </a:solidFill>
                <a:latin typeface="Outfit" pitchFamily="34" charset="0"/>
                <a:ea typeface="Outfit" pitchFamily="34" charset="-122"/>
                <a:cs typeface="Outfit" pitchFamily="34" charset="-120"/>
              </a:rPr>
              <a:t>Part 2: The Practice Nook &amp; Binder Control</a:t>
            </a:r>
            <a:endParaRPr lang="en-US" sz="5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31520"/>
            <a:ext cx="8229600" cy="914400"/>
          </a:xfrm>
          <a:prstGeom prst="rect">
            <a:avLst/>
          </a:prstGeom>
          <a:noFill/>
          <a:ln/>
        </p:spPr>
        <p:txBody>
          <a:bodyPr wrap="square" rtlCol="0" anchor="ctr"/>
          <a:lstStyle/>
          <a:p>
            <a:pPr indent="0" marL="0">
              <a:buNone/>
            </a:pPr>
            <a:r>
              <a:rPr lang="en-US" sz="4000" b="1" dirty="0">
                <a:solidFill>
                  <a:srgbClr val="FFFFFF"/>
                </a:solidFill>
                <a:latin typeface="Outfit" pitchFamily="34" charset="0"/>
                <a:ea typeface="Outfit" pitchFamily="34" charset="-122"/>
                <a:cs typeface="Outfit" pitchFamily="34" charset="-120"/>
              </a:rPr>
              <a:t>Environmental Scaffolding</a:t>
            </a:r>
            <a:endParaRPr lang="en-US" sz="4000" dirty="0"/>
          </a:p>
        </p:txBody>
      </p:sp>
      <p:sp>
        <p:nvSpPr>
          <p:cNvPr id="3" name="Text 1"/>
          <p:cNvSpPr/>
          <p:nvPr/>
        </p:nvSpPr>
        <p:spPr>
          <a:xfrm>
            <a:off x="457200" y="1645920"/>
            <a:ext cx="8229600" cy="457200"/>
          </a:xfrm>
          <a:prstGeom prst="rect">
            <a:avLst/>
          </a:prstGeom>
          <a:noFill/>
          <a:ln/>
        </p:spPr>
        <p:txBody>
          <a:bodyPr wrap="square" rtlCol="0" anchor="ctr"/>
          <a:lstStyle/>
          <a:p>
            <a:pPr indent="0" marL="0">
              <a:buNone/>
            </a:pPr>
            <a:r>
              <a:rPr lang="en-US" sz="2400" dirty="0">
                <a:solidFill>
                  <a:srgbClr val="00F0FF"/>
                </a:solidFill>
                <a:latin typeface="Inter" pitchFamily="34" charset="0"/>
                <a:ea typeface="Inter" pitchFamily="34" charset="-122"/>
                <a:cs typeface="Inter" pitchFamily="34" charset="-120"/>
              </a:rPr>
              <a:t>External Order, Internal Flow</a:t>
            </a:r>
            <a:endParaRPr lang="en-US" sz="2400" dirty="0"/>
          </a:p>
        </p:txBody>
      </p:sp>
      <p:sp>
        <p:nvSpPr>
          <p:cNvPr id="4" name="Text 2"/>
          <p:cNvSpPr/>
          <p:nvPr/>
        </p:nvSpPr>
        <p:spPr>
          <a:xfrm>
            <a:off x="457200" y="2743200"/>
            <a:ext cx="8229600" cy="1828800"/>
          </a:xfrm>
          <a:prstGeom prst="rect">
            <a:avLst/>
          </a:prstGeom>
          <a:solidFill>
            <a:srgbClr val="20202A"/>
          </a:solidFill>
          <a:ln/>
        </p:spPr>
        <p:txBody>
          <a:bodyPr wrap="square" rtlCol="0" anchor="ctr"/>
          <a:lstStyle/>
          <a:p>
            <a:pPr algn="ctr" indent="0" marL="0">
              <a:buNone/>
            </a:pPr>
            <a:r>
              <a:rPr lang="en-US" sz="1800" i="1" dirty="0">
                <a:solidFill>
                  <a:srgbClr val="FF8A00"/>
                </a:solidFill>
                <a:latin typeface="Inter" pitchFamily="34" charset="0"/>
                <a:ea typeface="Inter" pitchFamily="34" charset="-122"/>
                <a:cs typeface="Inter" pitchFamily="34" charset="-120"/>
              </a:rPr>
              <a:t>[Visual: A beautifully organized, moody musician's desk with twilight lighting.]</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31520"/>
            <a:ext cx="8229600" cy="914400"/>
          </a:xfrm>
          <a:prstGeom prst="rect">
            <a:avLst/>
          </a:prstGeom>
          <a:noFill/>
          <a:ln/>
        </p:spPr>
        <p:txBody>
          <a:bodyPr wrap="square" rtlCol="0" anchor="ctr"/>
          <a:lstStyle/>
          <a:p>
            <a:pPr indent="0" marL="0">
              <a:buNone/>
            </a:pPr>
            <a:r>
              <a:rPr lang="en-US" sz="4000" b="1" dirty="0">
                <a:solidFill>
                  <a:srgbClr val="FFFFFF"/>
                </a:solidFill>
                <a:latin typeface="Outfit" pitchFamily="34" charset="0"/>
                <a:ea typeface="Outfit" pitchFamily="34" charset="-122"/>
                <a:cs typeface="Outfit" pitchFamily="34" charset="-120"/>
              </a:rPr>
              <a:t>Binder Control</a:t>
            </a:r>
            <a:endParaRPr lang="en-US" sz="4000" dirty="0"/>
          </a:p>
        </p:txBody>
      </p:sp>
      <p:sp>
        <p:nvSpPr>
          <p:cNvPr id="3" name="Text 1"/>
          <p:cNvSpPr/>
          <p:nvPr/>
        </p:nvSpPr>
        <p:spPr>
          <a:xfrm>
            <a:off x="457200" y="1645920"/>
            <a:ext cx="8229600" cy="457200"/>
          </a:xfrm>
          <a:prstGeom prst="rect">
            <a:avLst/>
          </a:prstGeom>
          <a:noFill/>
          <a:ln/>
        </p:spPr>
        <p:txBody>
          <a:bodyPr wrap="square" rtlCol="0" anchor="ctr"/>
          <a:lstStyle/>
          <a:p>
            <a:pPr indent="0" marL="0">
              <a:buNone/>
            </a:pPr>
            <a:r>
              <a:rPr lang="en-US" sz="2400" dirty="0">
                <a:solidFill>
                  <a:srgbClr val="00F0FF"/>
                </a:solidFill>
                <a:latin typeface="Inter" pitchFamily="34" charset="0"/>
                <a:ea typeface="Inter" pitchFamily="34" charset="-122"/>
                <a:cs typeface="Inter" pitchFamily="34" charset="-120"/>
              </a:rPr>
              <a:t>Offloading Cognitive Burden</a:t>
            </a:r>
            <a:endParaRPr lang="en-US" sz="2400" dirty="0"/>
          </a:p>
        </p:txBody>
      </p:sp>
      <p:sp>
        <p:nvSpPr>
          <p:cNvPr id="4" name="Text 2"/>
          <p:cNvSpPr/>
          <p:nvPr/>
        </p:nvSpPr>
        <p:spPr>
          <a:xfrm>
            <a:off x="457200" y="2743200"/>
            <a:ext cx="8229600" cy="1828800"/>
          </a:xfrm>
          <a:prstGeom prst="rect">
            <a:avLst/>
          </a:prstGeom>
          <a:solidFill>
            <a:srgbClr val="20202A"/>
          </a:solidFill>
          <a:ln/>
        </p:spPr>
        <p:txBody>
          <a:bodyPr wrap="square" rtlCol="0" anchor="ctr"/>
          <a:lstStyle/>
          <a:p>
            <a:pPr algn="ctr" indent="0" marL="0">
              <a:buNone/>
            </a:pPr>
            <a:r>
              <a:rPr lang="en-US" sz="1800" i="1" dirty="0">
                <a:solidFill>
                  <a:srgbClr val="FF8A00"/>
                </a:solidFill>
                <a:latin typeface="Inter" pitchFamily="34" charset="0"/>
                <a:ea typeface="Inter" pitchFamily="34" charset="-122"/>
                <a:cs typeface="Inter" pitchFamily="34" charset="-120"/>
              </a:rPr>
              <a:t>[Visual: A 3-ring binder glowing with neon accents.]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2026-05-17T00:56:07Z</dcterms:created>
  <dcterms:modified xsi:type="dcterms:W3CDTF">2026-05-17T00:56:07Z</dcterms:modified>
</cp:coreProperties>
</file>