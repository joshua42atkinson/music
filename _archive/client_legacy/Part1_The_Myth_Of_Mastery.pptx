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Part 1: The Myth of Mastery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Bertrand Laurence's Masterclass. You've likely heard that mastery takes 10,000 hours. But here is the truth: 10,000 hours of mindless practice doesn't make you a master. It just makes you a master of your own mistakes. It actively rewires your brain to be sloppy and anxious.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this video your permission slip. You no longer have to rush. You no longer have to prove anything to the metronome. When you understand that practicing slowly actually builds faster neural pathways, the pressure disappears. Mindless practice is a chore. Mindful practice is an exciting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dirty="0">
                <a:solidFill>
                  <a:srgbClr val="A0A0C0"/>
                </a:solidFill>
                <a:latin typeface="Inter" pitchFamily="34" charset="0"/>
                <a:ea typeface="Inter" pitchFamily="34" charset="-122"/>
                <a:cs typeface="Inter" pitchFamily="34" charset="-120"/>
              </a:rPr>
              <a:t>BERTRAND LAURENCE GUITAR STUDIO | MASTERCLASS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057400"/>
            <a:ext cx="8229600" cy="914400"/>
          </a:xfrm>
          <a:prstGeom prst="rect">
            <a:avLst/>
          </a:prstGeom>
          <a:noFill/>
          <a:ln/>
        </p:spPr>
        <p:txBody>
          <a:bodyPr wrap="square" rtlCol="0" anchor="ctr"/>
          <a:lstStyle/>
          <a:p>
            <a:pPr algn="ctr" indent="0" marL="0">
              <a:buNone/>
            </a:pPr>
            <a:r>
              <a:rPr lang="en-US" sz="5400" b="1" dirty="0">
                <a:solidFill>
                  <a:srgbClr val="FFFFFF"/>
                </a:solidFill>
                <a:latin typeface="Outfit" pitchFamily="34" charset="0"/>
                <a:ea typeface="Outfit" pitchFamily="34" charset="-122"/>
                <a:cs typeface="Outfit" pitchFamily="34" charset="-120"/>
              </a:rPr>
              <a:t>Part 1: The Myth of Mastery</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4000" b="1" dirty="0">
                <a:solidFill>
                  <a:srgbClr val="FFFFFF"/>
                </a:solidFill>
                <a:latin typeface="Outfit" pitchFamily="34" charset="0"/>
                <a:ea typeface="Outfit" pitchFamily="34" charset="-122"/>
                <a:cs typeface="Outfit" pitchFamily="34" charset="-120"/>
              </a:rPr>
              <a:t>The 10,000 Hour Illusion</a:t>
            </a:r>
            <a:endParaRPr lang="en-US" sz="4000" dirty="0"/>
          </a:p>
        </p:txBody>
      </p:sp>
      <p:sp>
        <p:nvSpPr>
          <p:cNvPr id="3" name="Text 1"/>
          <p:cNvSpPr/>
          <p:nvPr/>
        </p:nvSpPr>
        <p:spPr>
          <a:xfrm>
            <a:off x="457200" y="1645920"/>
            <a:ext cx="8229600" cy="457200"/>
          </a:xfrm>
          <a:prstGeom prst="rect">
            <a:avLst/>
          </a:prstGeom>
          <a:noFill/>
          <a:ln/>
        </p:spPr>
        <p:txBody>
          <a:bodyPr wrap="square" rtlCol="0" anchor="ctr"/>
          <a:lstStyle/>
          <a:p>
            <a:pPr indent="0" marL="0">
              <a:buNone/>
            </a:pPr>
            <a:r>
              <a:rPr lang="en-US" sz="2400" dirty="0">
                <a:solidFill>
                  <a:srgbClr val="00F0FF"/>
                </a:solidFill>
                <a:latin typeface="Inter" pitchFamily="34" charset="0"/>
                <a:ea typeface="Inter" pitchFamily="34" charset="-122"/>
                <a:cs typeface="Inter" pitchFamily="34" charset="-120"/>
              </a:rPr>
              <a:t>Quantity vs Quality</a:t>
            </a:r>
            <a:endParaRPr lang="en-US" sz="2400" dirty="0"/>
          </a:p>
        </p:txBody>
      </p:sp>
      <p:sp>
        <p:nvSpPr>
          <p:cNvPr id="4" name="Text 2"/>
          <p:cNvSpPr/>
          <p:nvPr/>
        </p:nvSpPr>
        <p:spPr>
          <a:xfrm>
            <a:off x="457200" y="2743200"/>
            <a:ext cx="8229600" cy="1828800"/>
          </a:xfrm>
          <a:prstGeom prst="rect">
            <a:avLst/>
          </a:prstGeom>
          <a:solidFill>
            <a:srgbClr val="20202A"/>
          </a:solidFill>
          <a:ln/>
        </p:spPr>
        <p:txBody>
          <a:bodyPr wrap="square" rtlCol="0" anchor="ctr"/>
          <a:lstStyle/>
          <a:p>
            <a:pPr algn="ctr" indent="0" marL="0">
              <a:buNone/>
            </a:pPr>
            <a:r>
              <a:rPr lang="en-US" sz="1800" i="1" dirty="0">
                <a:solidFill>
                  <a:srgbClr val="FF8A00"/>
                </a:solidFill>
                <a:latin typeface="Inter" pitchFamily="34" charset="0"/>
                <a:ea typeface="Inter" pitchFamily="34" charset="-122"/>
                <a:cs typeface="Inter" pitchFamily="34" charset="-120"/>
              </a:rPr>
              <a:t>[Visual: A clock ticking with a blurred, frustrated guitarist in the background.]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4000" b="1" dirty="0">
                <a:solidFill>
                  <a:srgbClr val="FFFFFF"/>
                </a:solidFill>
                <a:latin typeface="Outfit" pitchFamily="34" charset="0"/>
                <a:ea typeface="Outfit" pitchFamily="34" charset="-122"/>
                <a:cs typeface="Outfit" pitchFamily="34" charset="-120"/>
              </a:rPr>
              <a:t>The Permission Slip</a:t>
            </a:r>
            <a:endParaRPr lang="en-US" sz="4000" dirty="0"/>
          </a:p>
        </p:txBody>
      </p:sp>
      <p:sp>
        <p:nvSpPr>
          <p:cNvPr id="3" name="Text 1"/>
          <p:cNvSpPr/>
          <p:nvPr/>
        </p:nvSpPr>
        <p:spPr>
          <a:xfrm>
            <a:off x="457200" y="1645920"/>
            <a:ext cx="8229600" cy="457200"/>
          </a:xfrm>
          <a:prstGeom prst="rect">
            <a:avLst/>
          </a:prstGeom>
          <a:noFill/>
          <a:ln/>
        </p:spPr>
        <p:txBody>
          <a:bodyPr wrap="square" rtlCol="0" anchor="ctr"/>
          <a:lstStyle/>
          <a:p>
            <a:pPr indent="0" marL="0">
              <a:buNone/>
            </a:pPr>
            <a:r>
              <a:rPr lang="en-US" sz="2400" dirty="0">
                <a:solidFill>
                  <a:srgbClr val="00F0FF"/>
                </a:solidFill>
                <a:latin typeface="Inter" pitchFamily="34" charset="0"/>
                <a:ea typeface="Inter" pitchFamily="34" charset="-122"/>
                <a:cs typeface="Inter" pitchFamily="34" charset="-120"/>
              </a:rPr>
              <a:t>Stop Trying So Hard</a:t>
            </a:r>
            <a:endParaRPr lang="en-US" sz="2400" dirty="0"/>
          </a:p>
        </p:txBody>
      </p:sp>
      <p:sp>
        <p:nvSpPr>
          <p:cNvPr id="4" name="Text 2"/>
          <p:cNvSpPr/>
          <p:nvPr/>
        </p:nvSpPr>
        <p:spPr>
          <a:xfrm>
            <a:off x="457200" y="2743200"/>
            <a:ext cx="8229600" cy="1828800"/>
          </a:xfrm>
          <a:prstGeom prst="rect">
            <a:avLst/>
          </a:prstGeom>
          <a:solidFill>
            <a:srgbClr val="20202A"/>
          </a:solidFill>
          <a:ln/>
        </p:spPr>
        <p:txBody>
          <a:bodyPr wrap="square" rtlCol="0" anchor="ctr"/>
          <a:lstStyle/>
          <a:p>
            <a:pPr algn="ctr" indent="0" marL="0">
              <a:buNone/>
            </a:pPr>
            <a:r>
              <a:rPr lang="en-US" sz="1800" i="1" dirty="0">
                <a:solidFill>
                  <a:srgbClr val="FF8A00"/>
                </a:solidFill>
                <a:latin typeface="Inter" pitchFamily="34" charset="0"/>
                <a:ea typeface="Inter" pitchFamily="34" charset="-122"/>
                <a:cs typeface="Inter" pitchFamily="34" charset="-120"/>
              </a:rPr>
              <a:t>[Visual: A glowing, signed document reading 'Permission to Slow Down'.]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2026-05-17T00:56:07Z</dcterms:created>
  <dcterms:modified xsi:type="dcterms:W3CDTF">2026-05-17T00:56:07Z</dcterms:modified>
</cp:coreProperties>
</file>